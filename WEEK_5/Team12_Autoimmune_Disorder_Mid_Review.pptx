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9" r:id="rId12"/>
    <p:sldId id="263" r:id="rId13"/>
    <p:sldId id="270" r:id="rId14"/>
    <p:sldId id="264" r:id="rId15"/>
    <p:sldId id="265" r:id="rId16"/>
    <p:sldId id="266" r:id="rId17"/>
    <p:sldId id="267" r:id="rId18"/>
    <p:sldId id="268" r:id="rId19"/>
  </p:sldIdLst>
  <p:sldSz cx="18288000" cy="10287000"/>
  <p:notesSz cx="6858000" cy="9144000"/>
  <p:embeddedFontLst>
    <p:embeddedFont>
      <p:font typeface="Poppins" panose="00000500000000000000" pitchFamily="2" charset="0"/>
      <p:regular r:id="rId20"/>
    </p:embeddedFont>
    <p:embeddedFont>
      <p:font typeface="Poppins Bold" panose="00000800000000000000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5CB7D-F697-ACB2-664D-D7E6AFCFB53F}" v="12" dt="2026-03-09T12:42:18.155"/>
    <p1510:client id="{51287185-4F37-FF56-C474-350C26ED8CC8}" v="326" dt="2026-03-09T12:41:48.936"/>
    <p1510:client id="{8B138E48-3DF8-0276-956E-60BF194BDDA8}" v="17" dt="2026-03-09T10:57:37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qeeq S 24BAD109" userId="S::shaqeeq.24ad@kct.ac.in::71df80c3-3251-4cde-b824-159bd162868f" providerId="AD" clId="Web-{39F5CB7D-F697-ACB2-664D-D7E6AFCFB53F}"/>
    <pc:docChg chg="modSld">
      <pc:chgData name="Shaqeeq S 24BAD109" userId="S::shaqeeq.24ad@kct.ac.in::71df80c3-3251-4cde-b824-159bd162868f" providerId="AD" clId="Web-{39F5CB7D-F697-ACB2-664D-D7E6AFCFB53F}" dt="2026-03-09T12:42:16.670" v="8" actId="20577"/>
      <pc:docMkLst>
        <pc:docMk/>
      </pc:docMkLst>
      <pc:sldChg chg="delSp modSp">
        <pc:chgData name="Shaqeeq S 24BAD109" userId="S::shaqeeq.24ad@kct.ac.in::71df80c3-3251-4cde-b824-159bd162868f" providerId="AD" clId="Web-{39F5CB7D-F697-ACB2-664D-D7E6AFCFB53F}" dt="2026-03-09T12:42:08.545" v="3"/>
        <pc:sldMkLst>
          <pc:docMk/>
          <pc:sldMk cId="0" sldId="256"/>
        </pc:sldMkLst>
        <pc:spChg chg="del mod">
          <ac:chgData name="Shaqeeq S 24BAD109" userId="S::shaqeeq.24ad@kct.ac.in::71df80c3-3251-4cde-b824-159bd162868f" providerId="AD" clId="Web-{39F5CB7D-F697-ACB2-664D-D7E6AFCFB53F}" dt="2026-03-09T12:42:08.545" v="3"/>
          <ac:spMkLst>
            <pc:docMk/>
            <pc:sldMk cId="0" sldId="256"/>
            <ac:spMk id="7" creationId="{00000000-0000-0000-0000-000000000000}"/>
          </ac:spMkLst>
        </pc:spChg>
      </pc:sldChg>
      <pc:sldChg chg="delSp modSp">
        <pc:chgData name="Shaqeeq S 24BAD109" userId="S::shaqeeq.24ad@kct.ac.in::71df80c3-3251-4cde-b824-159bd162868f" providerId="AD" clId="Web-{39F5CB7D-F697-ACB2-664D-D7E6AFCFB53F}" dt="2026-03-09T12:42:13.733" v="6"/>
        <pc:sldMkLst>
          <pc:docMk/>
          <pc:sldMk cId="0" sldId="257"/>
        </pc:sldMkLst>
        <pc:spChg chg="del mod">
          <ac:chgData name="Shaqeeq S 24BAD109" userId="S::shaqeeq.24ad@kct.ac.in::71df80c3-3251-4cde-b824-159bd162868f" providerId="AD" clId="Web-{39F5CB7D-F697-ACB2-664D-D7E6AFCFB53F}" dt="2026-03-09T12:42:13.733" v="6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39F5CB7D-F697-ACB2-664D-D7E6AFCFB53F}" dt="2026-03-09T12:42:16.670" v="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39F5CB7D-F697-ACB2-664D-D7E6AFCFB53F}" dt="2026-03-09T12:42:16.670" v="8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51287185-4F37-FF56-C474-350C26ED8CC8}"/>
    <pc:docChg chg="modSld">
      <pc:chgData name="Shaqeeq S 24BAD109" userId="S::shaqeeq.24ad@kct.ac.in::71df80c3-3251-4cde-b824-159bd162868f" providerId="AD" clId="Web-{51287185-4F37-FF56-C474-350C26ED8CC8}" dt="2026-03-09T12:41:48.936" v="206" actId="14100"/>
      <pc:docMkLst>
        <pc:docMk/>
      </pc:docMkLst>
      <pc:sldChg chg="modSp">
        <pc:chgData name="Shaqeeq S 24BAD109" userId="S::shaqeeq.24ad@kct.ac.in::71df80c3-3251-4cde-b824-159bd162868f" providerId="AD" clId="Web-{51287185-4F37-FF56-C474-350C26ED8CC8}" dt="2026-03-09T12:25:07.732" v="42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51287185-4F37-FF56-C474-350C26ED8CC8}" dt="2026-03-09T12:25:07.732" v="42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6:08.607" v="52" actId="20577"/>
        <pc:sldMkLst>
          <pc:docMk/>
          <pc:sldMk cId="0" sldId="257"/>
        </pc:sldMkLst>
        <pc:spChg chg="mod">
          <ac:chgData name="Shaqeeq S 24BAD109" userId="S::shaqeeq.24ad@kct.ac.in::71df80c3-3251-4cde-b824-159bd162868f" providerId="AD" clId="Web-{51287185-4F37-FF56-C474-350C26ED8CC8}" dt="2026-03-09T12:26:08.607" v="52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9:28.849" v="8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51287185-4F37-FF56-C474-350C26ED8CC8}" dt="2026-03-09T12:29:28.849" v="88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">
        <pc:chgData name="Shaqeeq S 24BAD109" userId="S::shaqeeq.24ad@kct.ac.in::71df80c3-3251-4cde-b824-159bd162868f" providerId="AD" clId="Web-{51287185-4F37-FF56-C474-350C26ED8CC8}" dt="2026-03-09T12:41:48.936" v="206" actId="14100"/>
        <pc:sldMkLst>
          <pc:docMk/>
          <pc:sldMk cId="0" sldId="259"/>
        </pc:sldMkLst>
        <pc:spChg chg="add del mod">
          <ac:chgData name="Shaqeeq S 24BAD109" userId="S::shaqeeq.24ad@kct.ac.in::71df80c3-3251-4cde-b824-159bd162868f" providerId="AD" clId="Web-{51287185-4F37-FF56-C474-350C26ED8CC8}" dt="2026-03-09T12:41:48.936" v="206" actId="14100"/>
          <ac:spMkLst>
            <pc:docMk/>
            <pc:sldMk cId="0" sldId="259"/>
            <ac:spMk id="6" creationId="{39830326-9244-16C5-6A34-4705E606B26E}"/>
          </ac:spMkLst>
        </pc:spChg>
        <pc:spChg chg="add del mod">
          <ac:chgData name="Shaqeeq S 24BAD109" userId="S::shaqeeq.24ad@kct.ac.in::71df80c3-3251-4cde-b824-159bd162868f" providerId="AD" clId="Web-{51287185-4F37-FF56-C474-350C26ED8CC8}" dt="2026-03-09T12:41:48.827" v="204"/>
          <ac:spMkLst>
            <pc:docMk/>
            <pc:sldMk cId="0" sldId="259"/>
            <ac:spMk id="8" creationId="{D75AD6F8-7901-AD0C-1FAD-9B4BD1C27926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561" v="199" actId="20577"/>
        <pc:sldMkLst>
          <pc:docMk/>
          <pc:sldMk cId="0" sldId="260"/>
        </pc:sldMkLst>
        <pc:spChg chg="mod">
          <ac:chgData name="Shaqeeq S 24BAD109" userId="S::shaqeeq.24ad@kct.ac.in::71df80c3-3251-4cde-b824-159bd162868f" providerId="AD" clId="Web-{51287185-4F37-FF56-C474-350C26ED8CC8}" dt="2026-03-09T12:41:48.561" v="199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202" v="191" actId="20577"/>
        <pc:sldMkLst>
          <pc:docMk/>
          <pc:sldMk cId="0" sldId="261"/>
        </pc:sldMkLst>
        <pc:spChg chg="mod">
          <ac:chgData name="Shaqeeq S 24BAD109" userId="S::shaqeeq.24ad@kct.ac.in::71df80c3-3251-4cde-b824-159bd162868f" providerId="AD" clId="Web-{51287185-4F37-FF56-C474-350C26ED8CC8}" dt="2026-03-09T12:41:48.202" v="19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8B138E48-3DF8-0276-956E-60BF194BDDA8}"/>
    <pc:docChg chg="modSld">
      <pc:chgData name="Shaqeeq S 24BAD109" userId="S::shaqeeq.24ad@kct.ac.in::71df80c3-3251-4cde-b824-159bd162868f" providerId="AD" clId="Web-{8B138E48-3DF8-0276-956E-60BF194BDDA8}" dt="2026-03-09T10:57:35.505" v="7" actId="20577"/>
      <pc:docMkLst>
        <pc:docMk/>
      </pc:docMkLst>
      <pc:sldChg chg="modSp">
        <pc:chgData name="Shaqeeq S 24BAD109" userId="S::shaqeeq.24ad@kct.ac.in::71df80c3-3251-4cde-b824-159bd162868f" providerId="AD" clId="Web-{8B138E48-3DF8-0276-956E-60BF194BDDA8}" dt="2026-03-09T10:57:35.505" v="7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8B138E48-3DF8-0276-956E-60BF194BDDA8}" dt="2026-03-09T10:57:35.505" v="7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vetha486/24ADI204_DSV_Team12/blob/main/univariate_analysis.ipynb" TargetMode="External"/><Relationship Id="rId2" Type="http://schemas.openxmlformats.org/officeDocument/2006/relationships/hyperlink" Target="https://www.kaggle.com/datasets/abdullahragheb/all-autoimmune-disorder-10k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Dept 101"/>
          <p:cNvSpPr txBox="1"/>
          <p:nvPr/>
        </p:nvSpPr>
        <p:spPr>
          <a:xfrm>
            <a:off x="3300000" y="560000"/>
            <a:ext cx="111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and Data Science</a:t>
            </a:r>
          </a:p>
        </p:txBody>
      </p:sp>
      <p:sp>
        <p:nvSpPr>
          <p:cNvPr id="102" name="Project Title 102"/>
          <p:cNvSpPr txBox="1"/>
          <p:nvPr/>
        </p:nvSpPr>
        <p:spPr>
          <a:xfrm>
            <a:off x="2000000" y="1500000"/>
            <a:ext cx="14288000" cy="2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AUTOIMMUNE DISORDER DATA ANALYSIS AND VISUALIZATION</a:t>
            </a:r>
          </a:p>
        </p:txBody>
      </p:sp>
      <p:sp>
        <p:nvSpPr>
          <p:cNvPr id="103" name="Course 103"/>
          <p:cNvSpPr txBox="1"/>
          <p:nvPr/>
        </p:nvSpPr>
        <p:spPr>
          <a:xfrm>
            <a:off x="2000000" y="4000000"/>
            <a:ext cx="142880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and Visualization – 24ADI204</a:t>
            </a:r>
          </a:p>
        </p:txBody>
      </p:sp>
      <p:sp>
        <p:nvSpPr>
          <p:cNvPr id="104" name="Event 104"/>
          <p:cNvSpPr txBox="1"/>
          <p:nvPr/>
        </p:nvSpPr>
        <p:spPr>
          <a:xfrm>
            <a:off x="2000000" y="4700000"/>
            <a:ext cx="1428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DATA-VIZ HACK-A-BIT (2026–2027)</a:t>
            </a:r>
          </a:p>
        </p:txBody>
      </p:sp>
      <p:sp>
        <p:nvSpPr>
          <p:cNvPr id="105" name="Review 105"/>
          <p:cNvSpPr txBox="1"/>
          <p:nvPr/>
        </p:nvSpPr>
        <p:spPr>
          <a:xfrm>
            <a:off x="2000000" y="5350000"/>
            <a:ext cx="14288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B8A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REVIEW – SEPTEMBER 2026</a:t>
            </a:r>
          </a:p>
        </p:txBody>
      </p:sp>
      <p:sp>
        <p:nvSpPr>
          <p:cNvPr id="106" name="Team 106"/>
          <p:cNvSpPr txBox="1"/>
          <p:nvPr/>
        </p:nvSpPr>
        <p:spPr>
          <a:xfrm>
            <a:off x="2000000" y="6250000"/>
            <a:ext cx="14288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12</a:t>
            </a:r>
          </a:p>
        </p:txBody>
      </p:sp>
      <p:sp>
        <p:nvSpPr>
          <p:cNvPr id="107" name="Member 107"/>
          <p:cNvSpPr/>
          <p:nvPr/>
        </p:nvSpPr>
        <p:spPr>
          <a:xfrm>
            <a:off x="3350000" y="7150000"/>
            <a:ext cx="5600000" cy="800000"/>
          </a:xfrm>
          <a:prstGeom prst="roundRect">
            <a:avLst>
              <a:gd name="adj" fmla="val 30000"/>
            </a:avLst>
          </a:prstGeom>
          <a:solidFill>
            <a:srgbClr val="E3EEF9"/>
          </a:solidFill>
          <a:ln w="12700">
            <a:solidFill>
              <a:srgbClr val="CFDC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Nivetha S – 25BAD074</a:t>
            </a:r>
          </a:p>
        </p:txBody>
      </p:sp>
      <p:sp>
        <p:nvSpPr>
          <p:cNvPr id="108" name="Member 108"/>
          <p:cNvSpPr/>
          <p:nvPr/>
        </p:nvSpPr>
        <p:spPr>
          <a:xfrm>
            <a:off x="9350000" y="7150000"/>
            <a:ext cx="5600000" cy="800000"/>
          </a:xfrm>
          <a:prstGeom prst="roundRect">
            <a:avLst>
              <a:gd name="adj" fmla="val 30000"/>
            </a:avLst>
          </a:prstGeom>
          <a:solidFill>
            <a:srgbClr val="E3EEF9"/>
          </a:solidFill>
          <a:ln w="12700">
            <a:solidFill>
              <a:srgbClr val="CFDC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Pooja T – 25BAD077</a:t>
            </a:r>
          </a:p>
        </p:txBody>
      </p:sp>
      <p:sp>
        <p:nvSpPr>
          <p:cNvPr id="109" name="Member 109"/>
          <p:cNvSpPr/>
          <p:nvPr/>
        </p:nvSpPr>
        <p:spPr>
          <a:xfrm>
            <a:off x="3350000" y="8150000"/>
            <a:ext cx="5600000" cy="800000"/>
          </a:xfrm>
          <a:prstGeom prst="roundRect">
            <a:avLst>
              <a:gd name="adj" fmla="val 30000"/>
            </a:avLst>
          </a:prstGeom>
          <a:solidFill>
            <a:srgbClr val="E3EEF9"/>
          </a:solidFill>
          <a:ln w="12700">
            <a:solidFill>
              <a:srgbClr val="CFDC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Puvi Priya M – 25BAD084</a:t>
            </a:r>
          </a:p>
        </p:txBody>
      </p:sp>
      <p:sp>
        <p:nvSpPr>
          <p:cNvPr id="110" name="Member 110"/>
          <p:cNvSpPr/>
          <p:nvPr/>
        </p:nvSpPr>
        <p:spPr>
          <a:xfrm>
            <a:off x="9350000" y="8150000"/>
            <a:ext cx="5600000" cy="800000"/>
          </a:xfrm>
          <a:prstGeom prst="roundRect">
            <a:avLst>
              <a:gd name="adj" fmla="val 30000"/>
            </a:avLst>
          </a:prstGeom>
          <a:solidFill>
            <a:srgbClr val="E3EEF9"/>
          </a:solidFill>
          <a:ln w="12700">
            <a:solidFill>
              <a:srgbClr val="CFDCEB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112D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Vaishnavi D – 25BAD126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23093"/>
            <a:ext cx="1617887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734625" y="33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Body 101"/>
          <p:cNvSpPr txBox="1"/>
          <p:nvPr/>
        </p:nvSpPr>
        <p:spPr>
          <a:xfrm>
            <a:off x="2900000" y="3500000"/>
            <a:ext cx="14800000" cy="5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Autoimmune disorders involve complex and overlapping symptoms.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Patient characteristics, clinical parameters and biomarkers vary across diseases.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Analysing multiple healthcare variables manually makes pattern identification difficult.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 analysis and visualization can reveal disease, demographic, symptom and biomarker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23093"/>
            <a:ext cx="1617887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7" name="Freeform 7"/>
          <p:cNvSpPr/>
          <p:nvPr/>
        </p:nvSpPr>
        <p:spPr>
          <a:xfrm>
            <a:off x="718753" y="33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Body 101"/>
          <p:cNvSpPr txBox="1"/>
          <p:nvPr/>
        </p:nvSpPr>
        <p:spPr>
          <a:xfrm>
            <a:off x="2900000" y="3400000"/>
            <a:ext cx="14800000" cy="6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Analyse the autoimmune disorder dataset.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Perform data preprocessing and data-quality analysis.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Conduct univariate and bivariate exploratory data analysis.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Identify relationships among diseases, demographics, symptoms, laboratory parameters and biomarkers.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Perform feature engineering and dimensionality reduction.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Develop an interactive visualization dashboard for presenting meaningful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23093"/>
            <a:ext cx="1617887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sp>
        <p:nvSpPr>
          <p:cNvPr id="101" name="Card 101"/>
          <p:cNvSpPr/>
          <p:nvPr/>
        </p:nvSpPr>
        <p:spPr>
          <a:xfrm>
            <a:off x="1054565" y="32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 preprocessing and quality improvement</a:t>
            </a:r>
          </a:p>
        </p:txBody>
      </p:sp>
      <p:sp>
        <p:nvSpPr>
          <p:cNvPr id="102" name="Badge 102"/>
          <p:cNvSpPr/>
          <p:nvPr/>
        </p:nvSpPr>
        <p:spPr>
          <a:xfrm>
            <a:off x="1384565" y="35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03" name="Card 103"/>
          <p:cNvSpPr/>
          <p:nvPr/>
        </p:nvSpPr>
        <p:spPr>
          <a:xfrm>
            <a:off x="1054565" y="49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Univariate and bivariate EDA</a:t>
            </a:r>
          </a:p>
        </p:txBody>
      </p:sp>
      <p:sp>
        <p:nvSpPr>
          <p:cNvPr id="104" name="Badge 104"/>
          <p:cNvSpPr/>
          <p:nvPr/>
        </p:nvSpPr>
        <p:spPr>
          <a:xfrm>
            <a:off x="1384565" y="52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05" name="Card 105"/>
          <p:cNvSpPr/>
          <p:nvPr/>
        </p:nvSpPr>
        <p:spPr>
          <a:xfrm>
            <a:off x="1054565" y="66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Statistical and correlation analysis</a:t>
            </a:r>
          </a:p>
        </p:txBody>
      </p:sp>
      <p:sp>
        <p:nvSpPr>
          <p:cNvPr id="106" name="Badge 106"/>
          <p:cNvSpPr/>
          <p:nvPr/>
        </p:nvSpPr>
        <p:spPr>
          <a:xfrm>
            <a:off x="1384565" y="69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07" name="Card 107"/>
          <p:cNvSpPr/>
          <p:nvPr/>
        </p:nvSpPr>
        <p:spPr>
          <a:xfrm>
            <a:off x="1054565" y="83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Outlier analysis and data transformation</a:t>
            </a:r>
          </a:p>
        </p:txBody>
      </p:sp>
      <p:sp>
        <p:nvSpPr>
          <p:cNvPr id="108" name="Badge 108"/>
          <p:cNvSpPr/>
          <p:nvPr/>
        </p:nvSpPr>
        <p:spPr>
          <a:xfrm>
            <a:off x="1384565" y="86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09" name="Card 109"/>
          <p:cNvSpPr/>
          <p:nvPr/>
        </p:nvSpPr>
        <p:spPr>
          <a:xfrm>
            <a:off x="9354565" y="32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Feature engineering and feature selection</a:t>
            </a:r>
          </a:p>
        </p:txBody>
      </p:sp>
      <p:sp>
        <p:nvSpPr>
          <p:cNvPr id="110" name="Badge 110"/>
          <p:cNvSpPr/>
          <p:nvPr/>
        </p:nvSpPr>
        <p:spPr>
          <a:xfrm>
            <a:off x="9684565" y="35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11" name="Card 111"/>
          <p:cNvSpPr/>
          <p:nvPr/>
        </p:nvSpPr>
        <p:spPr>
          <a:xfrm>
            <a:off x="9354565" y="49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PCA and dimensionality reduction</a:t>
            </a:r>
          </a:p>
        </p:txBody>
      </p:sp>
      <p:sp>
        <p:nvSpPr>
          <p:cNvPr id="112" name="Badge 112"/>
          <p:cNvSpPr/>
          <p:nvPr/>
        </p:nvSpPr>
        <p:spPr>
          <a:xfrm>
            <a:off x="9684565" y="52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113" name="Card 113"/>
          <p:cNvSpPr/>
          <p:nvPr/>
        </p:nvSpPr>
        <p:spPr>
          <a:xfrm>
            <a:off x="9354565" y="66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Interactive dashboard development</a:t>
            </a:r>
          </a:p>
        </p:txBody>
      </p:sp>
      <p:sp>
        <p:nvSpPr>
          <p:cNvPr id="114" name="Badge 114"/>
          <p:cNvSpPr/>
          <p:nvPr/>
        </p:nvSpPr>
        <p:spPr>
          <a:xfrm>
            <a:off x="9684565" y="69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  <p:sp>
        <p:nvSpPr>
          <p:cNvPr id="115" name="Card 115"/>
          <p:cNvSpPr/>
          <p:nvPr/>
        </p:nvSpPr>
        <p:spPr>
          <a:xfrm>
            <a:off x="9354565" y="8350000"/>
            <a:ext cx="7900000" cy="1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1350000" tIns="100000" rIns="300000" bIns="1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Data-driven storytelling and insight generation</a:t>
            </a:r>
          </a:p>
        </p:txBody>
      </p:sp>
      <p:sp>
        <p:nvSpPr>
          <p:cNvPr id="116" name="Badge 116"/>
          <p:cNvSpPr/>
          <p:nvPr/>
        </p:nvSpPr>
        <p:spPr>
          <a:xfrm>
            <a:off x="9684565" y="8650000"/>
            <a:ext cx="800000" cy="8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23093"/>
            <a:ext cx="16178870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Card 101"/>
          <p:cNvSpPr/>
          <p:nvPr/>
        </p:nvSpPr>
        <p:spPr>
          <a:xfrm>
            <a:off x="2900000" y="3200000"/>
            <a:ext cx="4700000" cy="19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150000" tIns="100000" rIns="150000" bIns="10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12,500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Records</a:t>
            </a:r>
          </a:p>
        </p:txBody>
      </p:sp>
      <p:sp>
        <p:nvSpPr>
          <p:cNvPr id="102" name="Card 102"/>
          <p:cNvSpPr/>
          <p:nvPr/>
        </p:nvSpPr>
        <p:spPr>
          <a:xfrm>
            <a:off x="7950000" y="3200000"/>
            <a:ext cx="4700000" cy="19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150000" tIns="100000" rIns="150000" bIns="10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76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</a:p>
        </p:txBody>
      </p:sp>
      <p:sp>
        <p:nvSpPr>
          <p:cNvPr id="103" name="Card 103"/>
          <p:cNvSpPr/>
          <p:nvPr/>
        </p:nvSpPr>
        <p:spPr>
          <a:xfrm>
            <a:off x="13000000" y="3200000"/>
            <a:ext cx="4700000" cy="19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150000" tIns="100000" rIns="150000" bIns="100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Data Type</a:t>
            </a:r>
          </a:p>
        </p:txBody>
      </p:sp>
      <p:sp>
        <p:nvSpPr>
          <p:cNvPr id="104" name="Details 104"/>
          <p:cNvSpPr txBox="1"/>
          <p:nvPr/>
        </p:nvSpPr>
        <p:spPr>
          <a:xfrm>
            <a:off x="2900000" y="5500000"/>
            <a:ext cx="8600000" cy="4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B8A9B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Comprehensive Autoimmune Disorder Dataset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B8A9B"/>
                </a:solidFill>
                <a:latin typeface="Poppins Bold"/>
                <a:ea typeface="Poppins Bold"/>
                <a:cs typeface="Poppins Bold"/>
                <a:sym typeface="Poppins Bold"/>
              </a:rPr>
              <a:t>SOURCE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Kaggle</a:t>
            </a:r>
          </a:p>
          <a:p>
            <a:pPr marL="0" indent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B8A9B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Autoimmune Disorder Diagnosis</a:t>
            </a:r>
          </a:p>
        </p:txBody>
      </p:sp>
      <p:sp>
        <p:nvSpPr>
          <p:cNvPr id="105" name="Card 105"/>
          <p:cNvSpPr/>
          <p:nvPr/>
        </p:nvSpPr>
        <p:spPr>
          <a:xfrm>
            <a:off x="11750000" y="5450000"/>
            <a:ext cx="5950000" cy="43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50000" tIns="280000" rIns="250000" bIns="20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Categories</a:t>
            </a:r>
          </a:p>
          <a:p>
            <a:pPr marL="400000" indent="-4000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Patient demographics</a:t>
            </a:r>
          </a:p>
          <a:p>
            <a:pPr marL="400000" indent="-4000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Disease diagnosis</a:t>
            </a:r>
          </a:p>
          <a:p>
            <a:pPr marL="400000" indent="-4000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Clinical symptoms</a:t>
            </a:r>
          </a:p>
          <a:p>
            <a:pPr marL="400000" indent="-4000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Laboratory parameters</a:t>
            </a:r>
          </a:p>
          <a:p>
            <a:pPr marL="400000" indent="-4000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Autoantibodies and biomarkers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 / Workflow</a:t>
            </a:r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1" name="Card 101"/>
          <p:cNvSpPr/>
          <p:nvPr/>
        </p:nvSpPr>
        <p:spPr>
          <a:xfrm>
            <a:off x="2900000" y="32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</p:txBody>
      </p:sp>
      <p:sp>
        <p:nvSpPr>
          <p:cNvPr id="102" name="Badge 102"/>
          <p:cNvSpPr/>
          <p:nvPr/>
        </p:nvSpPr>
        <p:spPr>
          <a:xfrm>
            <a:off x="3200000" y="34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03" name="Card 103"/>
          <p:cNvSpPr/>
          <p:nvPr/>
        </p:nvSpPr>
        <p:spPr>
          <a:xfrm>
            <a:off x="6733333" y="32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</a:t>
            </a:r>
          </a:p>
        </p:txBody>
      </p:sp>
      <p:sp>
        <p:nvSpPr>
          <p:cNvPr id="104" name="Badge 104"/>
          <p:cNvSpPr/>
          <p:nvPr/>
        </p:nvSpPr>
        <p:spPr>
          <a:xfrm>
            <a:off x="7033333" y="34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05" name="Card 105"/>
          <p:cNvSpPr/>
          <p:nvPr/>
        </p:nvSpPr>
        <p:spPr>
          <a:xfrm>
            <a:off x="10566666" y="32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</a:t>
            </a:r>
          </a:p>
        </p:txBody>
      </p:sp>
      <p:sp>
        <p:nvSpPr>
          <p:cNvPr id="106" name="Badge 106"/>
          <p:cNvSpPr/>
          <p:nvPr/>
        </p:nvSpPr>
        <p:spPr>
          <a:xfrm>
            <a:off x="10866666" y="34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107" name="Card 107"/>
          <p:cNvSpPr/>
          <p:nvPr/>
        </p:nvSpPr>
        <p:spPr>
          <a:xfrm>
            <a:off x="14399999" y="32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</p:txBody>
      </p:sp>
      <p:sp>
        <p:nvSpPr>
          <p:cNvPr id="108" name="Badge 108"/>
          <p:cNvSpPr/>
          <p:nvPr/>
        </p:nvSpPr>
        <p:spPr>
          <a:xfrm>
            <a:off x="14699999" y="34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109" name="Arrow 109"/>
          <p:cNvSpPr/>
          <p:nvPr/>
        </p:nvSpPr>
        <p:spPr>
          <a:xfrm>
            <a:off x="6260000" y="4350000"/>
            <a:ext cx="413000" cy="400000"/>
          </a:xfrm>
          <a:prstGeom prst="right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0" name="Arrow 110"/>
          <p:cNvSpPr/>
          <p:nvPr/>
        </p:nvSpPr>
        <p:spPr>
          <a:xfrm>
            <a:off x="10093333" y="4350000"/>
            <a:ext cx="413000" cy="400000"/>
          </a:xfrm>
          <a:prstGeom prst="right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1" name="Arrow 111"/>
          <p:cNvSpPr/>
          <p:nvPr/>
        </p:nvSpPr>
        <p:spPr>
          <a:xfrm>
            <a:off x="13926666" y="4350000"/>
            <a:ext cx="413000" cy="400000"/>
          </a:xfrm>
          <a:prstGeom prst="right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2" name="Arrow 112"/>
          <p:cNvSpPr/>
          <p:nvPr/>
        </p:nvSpPr>
        <p:spPr>
          <a:xfrm>
            <a:off x="15799999" y="5980000"/>
            <a:ext cx="500000" cy="540000"/>
          </a:xfrm>
          <a:prstGeom prst="down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3" name="Card 113"/>
          <p:cNvSpPr/>
          <p:nvPr/>
        </p:nvSpPr>
        <p:spPr>
          <a:xfrm>
            <a:off x="14399999" y="65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Selection &amp; PCA</a:t>
            </a:r>
          </a:p>
        </p:txBody>
      </p:sp>
      <p:sp>
        <p:nvSpPr>
          <p:cNvPr id="114" name="Badge 114"/>
          <p:cNvSpPr/>
          <p:nvPr/>
        </p:nvSpPr>
        <p:spPr>
          <a:xfrm>
            <a:off x="14699999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115" name="Card 115"/>
          <p:cNvSpPr/>
          <p:nvPr/>
        </p:nvSpPr>
        <p:spPr>
          <a:xfrm>
            <a:off x="10566666" y="6500000"/>
            <a:ext cx="3300000" cy="27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 &amp; Dashboard Development</a:t>
            </a:r>
          </a:p>
        </p:txBody>
      </p:sp>
      <p:sp>
        <p:nvSpPr>
          <p:cNvPr id="116" name="Badge 116"/>
          <p:cNvSpPr/>
          <p:nvPr/>
        </p:nvSpPr>
        <p:spPr>
          <a:xfrm>
            <a:off x="10866666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117" name="Arrow 117"/>
          <p:cNvSpPr/>
          <p:nvPr/>
        </p:nvSpPr>
        <p:spPr>
          <a:xfrm>
            <a:off x="13926666" y="7650000"/>
            <a:ext cx="413000" cy="400000"/>
          </a:xfrm>
          <a:prstGeom prst="left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8" name="Arrow 118"/>
          <p:cNvSpPr/>
          <p:nvPr/>
        </p:nvSpPr>
        <p:spPr>
          <a:xfrm>
            <a:off x="10093333" y="7650000"/>
            <a:ext cx="413000" cy="400000"/>
          </a:xfrm>
          <a:prstGeom prst="leftArrow">
            <a:avLst/>
          </a:prstGeom>
          <a:solidFill>
            <a:srgbClr val="1B8A9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9" name="Card 119"/>
          <p:cNvSpPr/>
          <p:nvPr/>
        </p:nvSpPr>
        <p:spPr>
          <a:xfrm>
            <a:off x="2900000" y="6500000"/>
            <a:ext cx="7133333" cy="2700000"/>
          </a:xfrm>
          <a:prstGeom prst="roundRect">
            <a:avLst>
              <a:gd name="adj" fmla="val 7000"/>
            </a:avLst>
          </a:prstGeom>
          <a:solidFill>
            <a:srgbClr val="1B8A9B"/>
          </a:solidFill>
          <a:ln>
            <a:noFill/>
          </a:ln>
        </p:spPr>
        <p:txBody>
          <a:bodyPr wrap="square" lIns="300000" tIns="1050000" rIns="250000" bIns="1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 Generation &amp; Data Storytelling</a:t>
            </a:r>
          </a:p>
        </p:txBody>
      </p:sp>
      <p:sp>
        <p:nvSpPr>
          <p:cNvPr id="120" name="Badge 120"/>
          <p:cNvSpPr/>
          <p:nvPr/>
        </p:nvSpPr>
        <p:spPr>
          <a:xfrm>
            <a:off x="3200000" y="6750000"/>
            <a:ext cx="700000" cy="700000"/>
          </a:xfrm>
          <a:prstGeom prst="ellipse">
            <a:avLst/>
          </a:prstGeom>
          <a:solidFill>
            <a:srgbClr val="112D6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</a:t>
            </a:r>
          </a:p>
        </p:txBody>
      </p:sp>
      <p:sp>
        <p:nvSpPr>
          <p:cNvPr id="101" name="Body 101"/>
          <p:cNvSpPr txBox="1"/>
          <p:nvPr/>
        </p:nvSpPr>
        <p:spPr>
          <a:xfrm>
            <a:off x="2900000" y="3400000"/>
            <a:ext cx="14800000" cy="6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Dataset loading and structural inspection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Data-type verification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Missing-value identification and treatment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Duplicate-record checking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Outlier detection and treatment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Categorical and numerical variable handling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 transformation for further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id="101" name="Body 101"/>
          <p:cNvSpPr txBox="1"/>
          <p:nvPr/>
        </p:nvSpPr>
        <p:spPr>
          <a:xfrm>
            <a:off x="2900000" y="3400000"/>
            <a:ext cx="14800000" cy="6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Dataset structure and data quality were examined.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Missing values and duplicate records were checked.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Numerical and categorical variables were identified.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Initial data cleaning was completed.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Dataset was prepared for exploratory analysis.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4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Cleaned data was used for univariate and bivariate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</a:t>
            </a:r>
          </a:p>
        </p:txBody>
      </p:sp>
      <p:sp>
        <p:nvSpPr>
          <p:cNvPr id="101" name="Card 101"/>
          <p:cNvSpPr/>
          <p:nvPr/>
        </p:nvSpPr>
        <p:spPr>
          <a:xfrm>
            <a:off x="2900000" y="3250000"/>
            <a:ext cx="7200000" cy="3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00000" tIns="350000" rIns="350000" bIns="25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Statistics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Mean, median, standard deviation and quartiles</a:t>
            </a:r>
          </a:p>
        </p:txBody>
      </p:sp>
      <p:sp>
        <p:nvSpPr>
          <p:cNvPr id="102" name="Card 102"/>
          <p:cNvSpPr/>
          <p:nvPr/>
        </p:nvSpPr>
        <p:spPr>
          <a:xfrm>
            <a:off x="10500000" y="3250000"/>
            <a:ext cx="7200000" cy="3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00000" tIns="350000" rIns="350000" bIns="25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Distribution Analysis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Age, gender, diagnosis, symptoms and clinical variables</a:t>
            </a:r>
          </a:p>
        </p:txBody>
      </p:sp>
      <p:sp>
        <p:nvSpPr>
          <p:cNvPr id="103" name="Card 103"/>
          <p:cNvSpPr/>
          <p:nvPr/>
        </p:nvSpPr>
        <p:spPr>
          <a:xfrm>
            <a:off x="2900000" y="6600000"/>
            <a:ext cx="7200000" cy="3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00000" tIns="350000" rIns="350000" bIns="25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Findings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Relationships among laboratory and clinical parameters</a:t>
            </a:r>
          </a:p>
        </p:txBody>
      </p:sp>
      <p:sp>
        <p:nvSpPr>
          <p:cNvPr id="104" name="Card 104"/>
          <p:cNvSpPr/>
          <p:nvPr/>
        </p:nvSpPr>
        <p:spPr>
          <a:xfrm>
            <a:off x="10500000" y="6600000"/>
            <a:ext cx="7200000" cy="30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00000" tIns="350000" rIns="350000" bIns="25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Disease, demographic, symptom and biomarker patterns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sp>
        <p:nvSpPr>
          <p:cNvPr id="101" name="Card 101"/>
          <p:cNvSpPr/>
          <p:nvPr/>
        </p:nvSpPr>
        <p:spPr>
          <a:xfrm>
            <a:off x="2900000" y="3200000"/>
            <a:ext cx="4700000" cy="6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50000" tIns="380000" rIns="30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Data Quality Improvements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Missing values and duplicate records examined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Outliers identified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Variables prepared for analysis</a:t>
            </a:r>
          </a:p>
        </p:txBody>
      </p:sp>
      <p:sp>
        <p:nvSpPr>
          <p:cNvPr id="102" name="Card 102"/>
          <p:cNvSpPr/>
          <p:nvPr/>
        </p:nvSpPr>
        <p:spPr>
          <a:xfrm>
            <a:off x="7950000" y="3200000"/>
            <a:ext cx="4700000" cy="65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350000" tIns="380000" rIns="30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Key EDA Findings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Disease distribution varies across categories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Age and gender patterns were compared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Clinical and laboratory variables show variation</a:t>
            </a:r>
          </a:p>
          <a:p>
            <a:pPr marL="380000" indent="-38000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Symptom and biomarker relationships were explored</a:t>
            </a:r>
          </a:p>
        </p:txBody>
      </p:sp>
      <p:sp>
        <p:nvSpPr>
          <p:cNvPr id="103" name="Card 103"/>
          <p:cNvSpPr/>
          <p:nvPr/>
        </p:nvSpPr>
        <p:spPr>
          <a:xfrm>
            <a:off x="13000000" y="3200000"/>
            <a:ext cx="4700000" cy="65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350000" tIns="380000" rIns="30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Readiness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prepared for feature engineering and advanced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Final Results</a:t>
            </a:r>
          </a:p>
        </p:txBody>
      </p:sp>
      <p:sp>
        <p:nvSpPr>
          <p:cNvPr id="101" name="Body 101"/>
          <p:cNvSpPr txBox="1"/>
          <p:nvPr/>
        </p:nvSpPr>
        <p:spPr>
          <a:xfrm>
            <a:off x="2900000" y="3400000"/>
            <a:ext cx="14800000" cy="6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Improved and transformed analytical dataset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Relevant features identified through feature selection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Reduced-dimensional representation using PCA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Comparative analysis of diseases, symptoms and biomarkers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Interactive visualizations using Plotly/Streamlit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Interactive dashboard for exploring patient and disease patterns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2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Clear data-driven insights and conclusions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986755" y="2930228"/>
          <a:ext cx="13339985" cy="6322412"/>
        </p:xfrm>
        <a:graphic>
          <a:graphicData uri="http://schemas.openxmlformats.org/drawingml/2006/table">
            <a:tbl>
              <a:tblPr/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9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2412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Team Member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Roles &amp; Responsibilities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Nivetha S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rgbClr val="24304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Data Collection &amp; Preprocessing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Pooja T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rgbClr val="24304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EDA &amp; Statistical Analysis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Puvi Priya M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rgbClr val="24304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Visualization &amp; Dashboard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0000">
                <a:tc>
                  <a:txBody>
                    <a:bodyPr/>
                    <a:lstStyle/>
                    <a:p>
                      <a:pPr algn="ctr"/>
                      <a:r>
                        <a:rPr lang="en-US" sz="3000" b="1">
                          <a:solidFill>
                            <a:srgbClr val="112D63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Vaishnavi D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24304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Documentation &amp; Data Storytelling</a:t>
                      </a:r>
                    </a:p>
                  </a:txBody>
                  <a:tcPr marL="190500" marR="190500" marT="100000" marB="1000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Challenges Faced</a:t>
            </a:r>
          </a:p>
        </p:txBody>
      </p:sp>
      <p:sp>
        <p:nvSpPr>
          <p:cNvPr id="101" name="Body 101"/>
          <p:cNvSpPr txBox="1"/>
          <p:nvPr/>
        </p:nvSpPr>
        <p:spPr>
          <a:xfrm>
            <a:off x="2900000" y="3400000"/>
            <a:ext cx="14800000" cy="6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Data quality and missing values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Large number of features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Outlier detection and treatment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Variation across disease categories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Class imbalance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Feature selection difficulty</a:t>
            </a:r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36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Choosing appropriate visualizations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&amp; Conclusion</a:t>
            </a:r>
          </a:p>
        </p:txBody>
      </p:sp>
      <p:sp>
        <p:nvSpPr>
          <p:cNvPr id="101" name="Card 101"/>
          <p:cNvSpPr/>
          <p:nvPr/>
        </p:nvSpPr>
        <p:spPr>
          <a:xfrm>
            <a:off x="2900000" y="3250000"/>
            <a:ext cx="7600000" cy="640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00000" tIns="380000" rIns="30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3200" b="1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Feature engineering and transformation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Normalization, scaling and encoding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Feature selection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PCA and dimensionality reduction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Interactive dashboard development</a:t>
            </a:r>
          </a:p>
          <a:p>
            <a:pPr marL="430000" indent="-43000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B8A9B"/>
              </a:buClr>
              <a:buFont typeface="Arial"/>
              <a:buChar char="•"/>
            </a:pPr>
            <a:r>
              <a:rPr lang="en-US" sz="2700" dirty="0">
                <a:solidFill>
                  <a:srgbClr val="24304A"/>
                </a:solidFill>
                <a:latin typeface="Poppins"/>
                <a:ea typeface="Poppins"/>
                <a:cs typeface="Poppins"/>
                <a:sym typeface="Poppins"/>
              </a:rPr>
              <a:t>Advanced visualization and data storytelling</a:t>
            </a:r>
          </a:p>
        </p:txBody>
      </p:sp>
      <p:sp>
        <p:nvSpPr>
          <p:cNvPr id="102" name="Card 102"/>
          <p:cNvSpPr/>
          <p:nvPr/>
        </p:nvSpPr>
        <p:spPr>
          <a:xfrm>
            <a:off x="10900000" y="3250000"/>
            <a:ext cx="6800000" cy="6400000"/>
          </a:xfrm>
          <a:prstGeom prst="roundRect">
            <a:avLst>
              <a:gd name="adj" fmla="val 7000"/>
            </a:avLst>
          </a:prstGeom>
          <a:solidFill>
            <a:srgbClr val="112D63"/>
          </a:solidFill>
          <a:ln>
            <a:noFill/>
          </a:ln>
        </p:spPr>
        <p:txBody>
          <a:bodyPr wrap="square" lIns="400000" tIns="380000" rIns="400000" bIns="25000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project combines data preprocessing, exploratory analysis and visualization to identify meaningful patterns in autoimmune disorder data and develop an interactive platform for deeper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101" name="Card 101">
            <a:hlinkClick r:id="rId2"/>
          </p:cNvPr>
          <p:cNvSpPr/>
          <p:nvPr/>
        </p:nvSpPr>
        <p:spPr>
          <a:xfrm>
            <a:off x="1500000" y="3400000"/>
            <a:ext cx="15288000" cy="26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50000" tIns="200000" rIns="400000" bIns="2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8A9B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b="1" u="sng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Comprehensive Autoimmune Disorder Dataset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 dirty="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https://www.kaggle.com/datasets/abdullahragheb/all-autoimmune-disorder-10k</a:t>
            </a:r>
          </a:p>
        </p:txBody>
      </p:sp>
      <p:sp>
        <p:nvSpPr>
          <p:cNvPr id="102" name="Card 102">
            <a:hlinkClick r:id="rId3"/>
          </p:cNvPr>
          <p:cNvSpPr/>
          <p:nvPr/>
        </p:nvSpPr>
        <p:spPr>
          <a:xfrm>
            <a:off x="1500000" y="6500000"/>
            <a:ext cx="15288000" cy="26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CEB"/>
            </a:solidFill>
          </a:ln>
          <a:effectLst>
            <a:outerShdw blurRad="76200" dist="25400" dir="5400000" algn="t" rotWithShape="0">
              <a:srgbClr val="112D63">
                <a:alpha val="14000"/>
              </a:srgbClr>
            </a:outerShdw>
          </a:effectLst>
        </p:spPr>
        <p:txBody>
          <a:bodyPr wrap="square" lIns="450000" tIns="200000" rIns="400000" bIns="200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B8A9B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REPOSITORY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b="1" u="sng" dirty="0">
                <a:solidFill>
                  <a:srgbClr val="112D63"/>
                </a:solidFill>
                <a:latin typeface="Poppins Bold"/>
                <a:ea typeface="Poppins Bold"/>
                <a:cs typeface="Poppins Bold"/>
                <a:sym typeface="Poppins 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 12 – Univariate Analysis Notebook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 dirty="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https://github.com/nivetha486/24ADI204_DSV_Team12/blob/main/univariate_analysis.ipynb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FDA871-35C3-49FC-BE2F-8D9ECBCC2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f6405e-9d26-4665-a572-60b6287e955e"/>
    <ds:schemaRef ds:uri="75f1d1de-8b6f-4690-bd7e-4a76190805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  <ds:schemaRef ds:uri="f8f6405e-9d26-4665-a572-60b6287e955e"/>
    <ds:schemaRef ds:uri="75f1d1de-8b6f-4690-bd7e-4a7619080584"/>
  </ds:schemaRefs>
</ds:datastoreItem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645</Words>
  <Application>Microsoft Office PowerPoint</Application>
  <PresentationFormat>Custom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Times New Roman</vt:lpstr>
      <vt:lpstr>Poppins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cp:lastModifiedBy>Vaishnavi D 25BAD126</cp:lastModifiedBy>
  <cp:revision>101</cp:revision>
  <dcterms:created xsi:type="dcterms:W3CDTF">2006-08-16T00:00:00Z</dcterms:created>
  <dcterms:modified xsi:type="dcterms:W3CDTF">2026-09-25T02:10:09Z</dcterms:modified>
  <dc:identifier>DAHC23RksKI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</Properties>
</file>