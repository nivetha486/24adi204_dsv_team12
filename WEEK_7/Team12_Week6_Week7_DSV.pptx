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008B82"/>
            </a:solidFill>
          </c:spPr>
          <c:invertIfNegative val="1"/>
          <c:cat>
            <c:strRef>
              <c:f>Sheet1!$A$2:$A$25</c:f>
              <c:strCache>
                <c:ptCount val="24"/>
                <c:pt idx="0">
                  <c:v>C3</c:v>
                </c:pt>
                <c:pt idx="1">
                  <c:v>Neutrophils</c:v>
                </c:pt>
                <c:pt idx="2">
                  <c:v>MCHC</c:v>
                </c:pt>
                <c:pt idx="3">
                  <c:v>MCH</c:v>
                </c:pt>
                <c:pt idx="4">
                  <c:v>MCV</c:v>
                </c:pt>
                <c:pt idx="5">
                  <c:v>MPV</c:v>
                </c:pt>
                <c:pt idx="6">
                  <c:v>Lymphocytes</c:v>
                </c:pt>
                <c:pt idx="7">
                  <c:v>Age</c:v>
                </c:pt>
                <c:pt idx="8">
                  <c:v>PLT_Count</c:v>
                </c:pt>
                <c:pt idx="9">
                  <c:v>Reticulocyte_Count</c:v>
                </c:pt>
                <c:pt idx="10">
                  <c:v>WBC_Count</c:v>
                </c:pt>
                <c:pt idx="11">
                  <c:v>Eosinophils</c:v>
                </c:pt>
                <c:pt idx="12">
                  <c:v>ESR</c:v>
                </c:pt>
                <c:pt idx="13">
                  <c:v>Monocytes</c:v>
                </c:pt>
                <c:pt idx="14">
                  <c:v>RDW</c:v>
                </c:pt>
                <c:pt idx="15">
                  <c:v>MBL_Level</c:v>
                </c:pt>
                <c:pt idx="16">
                  <c:v>CRP</c:v>
                </c:pt>
                <c:pt idx="17">
                  <c:v>Esbach</c:v>
                </c:pt>
                <c:pt idx="18">
                  <c:v>C4</c:v>
                </c:pt>
                <c:pt idx="19">
                  <c:v>Sickness_Duration_Months</c:v>
                </c:pt>
                <c:pt idx="20">
                  <c:v>Hemoglobin</c:v>
                </c:pt>
                <c:pt idx="21">
                  <c:v>Basophils</c:v>
                </c:pt>
                <c:pt idx="22">
                  <c:v>RBC_Count</c:v>
                </c:pt>
                <c:pt idx="23">
                  <c:v>Hematocrit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-0.10249999999999999</c:v>
                </c:pt>
                <c:pt idx="1">
                  <c:v>-7.46E-2</c:v>
                </c:pt>
                <c:pt idx="2">
                  <c:v>-6.7699999999999996E-2</c:v>
                </c:pt>
                <c:pt idx="3">
                  <c:v>-2.7900000000000001E-2</c:v>
                </c:pt>
                <c:pt idx="4">
                  <c:v>-2.6599999999999999E-2</c:v>
                </c:pt>
                <c:pt idx="5">
                  <c:v>3.5999999999999999E-3</c:v>
                </c:pt>
                <c:pt idx="6">
                  <c:v>1.3100000000000001E-2</c:v>
                </c:pt>
                <c:pt idx="7">
                  <c:v>1.6E-2</c:v>
                </c:pt>
                <c:pt idx="8">
                  <c:v>1.6400000000000001E-2</c:v>
                </c:pt>
                <c:pt idx="9">
                  <c:v>2.7900000000000001E-2</c:v>
                </c:pt>
                <c:pt idx="10">
                  <c:v>3.2899999999999999E-2</c:v>
                </c:pt>
                <c:pt idx="11">
                  <c:v>7.3400000000000007E-2</c:v>
                </c:pt>
                <c:pt idx="12">
                  <c:v>8.3799999999999999E-2</c:v>
                </c:pt>
                <c:pt idx="13">
                  <c:v>0.1026</c:v>
                </c:pt>
                <c:pt idx="14">
                  <c:v>0.13020000000000001</c:v>
                </c:pt>
                <c:pt idx="15">
                  <c:v>0.14219999999999999</c:v>
                </c:pt>
                <c:pt idx="16">
                  <c:v>0.16220000000000001</c:v>
                </c:pt>
                <c:pt idx="17">
                  <c:v>0.18740000000000001</c:v>
                </c:pt>
                <c:pt idx="18">
                  <c:v>0.19470000000000001</c:v>
                </c:pt>
                <c:pt idx="19">
                  <c:v>0.22559999999999999</c:v>
                </c:pt>
                <c:pt idx="20">
                  <c:v>0.24249999999999999</c:v>
                </c:pt>
                <c:pt idx="21">
                  <c:v>0.27500000000000002</c:v>
                </c:pt>
                <c:pt idx="22">
                  <c:v>0.34229999999999999</c:v>
                </c:pt>
                <c:pt idx="23">
                  <c:v>0.35349999999999998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09-4FE9-95CB-369D5B533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  <c:min val="-0.15"/>
        </c:scaling>
        <c:delete val="0"/>
        <c:axPos val="b"/>
        <c:majorGridlines>
          <c:spPr>
            <a:ln>
              <a:solidFill>
                <a:srgbClr val="D8E2E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Mutual information</c:v>
                </c:pt>
              </c:strCache>
            </c:strRef>
          </c:tx>
          <c:spPr>
            <a:solidFill>
              <a:srgbClr val="008B82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ACPA</c:v>
                </c:pt>
                <c:pt idx="1">
                  <c:v>CRP</c:v>
                </c:pt>
                <c:pt idx="2">
                  <c:v>Sickness_Duration_Months</c:v>
                </c:pt>
                <c:pt idx="3">
                  <c:v>Hemoglobin</c:v>
                </c:pt>
                <c:pt idx="4">
                  <c:v>RBC_Count</c:v>
                </c:pt>
                <c:pt idx="5">
                  <c:v>ESR</c:v>
                </c:pt>
                <c:pt idx="6">
                  <c:v>Hematocrit</c:v>
                </c:pt>
                <c:pt idx="7">
                  <c:v>MBL_Level</c:v>
                </c:pt>
                <c:pt idx="8">
                  <c:v>Esbach</c:v>
                </c:pt>
                <c:pt idx="9">
                  <c:v>ANA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0.50671200000000005</c:v>
                </c:pt>
                <c:pt idx="1">
                  <c:v>0.499776</c:v>
                </c:pt>
                <c:pt idx="2">
                  <c:v>0.48159200000000002</c:v>
                </c:pt>
                <c:pt idx="3">
                  <c:v>0.33073799999999998</c:v>
                </c:pt>
                <c:pt idx="4">
                  <c:v>0.32275999999999999</c:v>
                </c:pt>
                <c:pt idx="5">
                  <c:v>0.31868200000000002</c:v>
                </c:pt>
                <c:pt idx="6">
                  <c:v>0.28943000000000002</c:v>
                </c:pt>
                <c:pt idx="7">
                  <c:v>0.24972800000000001</c:v>
                </c:pt>
                <c:pt idx="8">
                  <c:v>0.22423999999999999</c:v>
                </c:pt>
                <c:pt idx="9">
                  <c:v>0.21774299999999999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49A-4A17-8F9F-BD9B237133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8E2E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vetha486/24ADI204_DSV_Team12" TargetMode="External"/><Relationship Id="rId2" Type="http://schemas.openxmlformats.org/officeDocument/2006/relationships/hyperlink" Target="https://www.kaggle.com/datasets/abdullahragheb/all-autoimmune-disorder-10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1C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8" y="749808"/>
            <a:ext cx="822960" cy="6400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740664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BDEE0"/>
                </a:solidFill>
                <a:latin typeface="Aptos"/>
              </a:defRPr>
            </a:pPr>
            <a:r>
              <a:t>KUMARAGURU COLLEGE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7406640" cy="34747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 SCIENCE AND VISUALIZATION  |  24ADI204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7452360" cy="12344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AUTOIMMUNE DISORDER</a:t>
            </a:r>
          </a:p>
          <a:p>
            <a:pPr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DATA ANALYSIS AND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726948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8FDED3"/>
                </a:solidFill>
                <a:latin typeface="Aptos"/>
              </a:defRPr>
            </a:pPr>
            <a:r>
              <a:t>WEEK 6 &amp; WEEK 7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7223760" cy="7315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7EDF5"/>
                </a:solidFill>
                <a:latin typeface="Aptos"/>
              </a:defRPr>
            </a:pPr>
            <a:r>
              <a:t>Feature Engineering  •  Statistical Visualization</a:t>
            </a:r>
          </a:p>
          <a:p>
            <a:pPr>
              <a:spcAft>
                <a:spcPts val="500"/>
              </a:spcAft>
              <a:defRPr sz="1400" b="0">
                <a:solidFill>
                  <a:srgbClr val="E7EDF5"/>
                </a:solidFill>
                <a:latin typeface="Aptos"/>
              </a:defRPr>
            </a:pPr>
            <a:r>
              <a:t>Dimensionality Reduction  •  Principal Component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10912"/>
            <a:ext cx="7269480" cy="66377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TEAM 12</a:t>
            </a:r>
          </a:p>
          <a:p>
            <a:pPr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Nivetha S (25BAD074)  |  Pooja T (25BAD077)  |  Puvi Priya M (25BAD084)</a:t>
            </a:r>
          </a:p>
          <a:p>
            <a:pPr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Vaishnavi D (25BAD126)  |  Daisy Rani S (25BAD50</a:t>
            </a:r>
            <a:r>
              <a:rPr lang="en-US" dirty="0"/>
              <a:t>3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987552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8FDED3"/>
                </a:solidFill>
                <a:latin typeface="Aptos"/>
              </a:defRPr>
            </a:pPr>
            <a:r>
              <a:t>PROJECT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691640"/>
            <a:ext cx="3017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12,500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203704"/>
            <a:ext cx="3017520" cy="310896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AE5F0"/>
                </a:solidFill>
                <a:latin typeface="Aptos"/>
              </a:defRPr>
            </a:pPr>
            <a:r>
              <a:t>DATA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017520"/>
            <a:ext cx="3017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529584"/>
            <a:ext cx="3017520" cy="310896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AE5F0"/>
                </a:solidFill>
                <a:latin typeface="Aptos"/>
              </a:defRPr>
            </a:pPr>
            <a:r>
              <a:t>PREPARED INPUT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343400"/>
            <a:ext cx="3017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95.02%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855464"/>
            <a:ext cx="3017520" cy="310896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AE5F0"/>
                </a:solidFill>
                <a:latin typeface="Aptos"/>
              </a:defRPr>
            </a:pPr>
            <a:r>
              <a:t>PCA VARIANCE RETAINED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5897880"/>
            <a:ext cx="30175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AE5F0"/>
                </a:solidFill>
                <a:latin typeface="Aptos"/>
              </a:defRPr>
            </a:pPr>
            <a:r>
              <a:t>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Two weeks of work: feature preparation, statistical analysis, and dimensionality reduction.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4747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68580" cy="164592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746504"/>
            <a:ext cx="315467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WEEK 6 | 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3127248" cy="10789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Scaled 24 numerical features, encoded categories, calculated skewness, and exported a processed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747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600200"/>
            <a:ext cx="68580" cy="1645920"/>
          </a:xfrm>
          <a:prstGeom prst="rect">
            <a:avLst/>
          </a:prstGeom>
          <a:solidFill>
            <a:srgbClr val="29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46504"/>
            <a:ext cx="315467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WEEK 7 | FEATURE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3127248" cy="10789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Ranked 75 prepared inputs with mutual information and selected the top 10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47472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68580" cy="1645920"/>
          </a:xfrm>
          <a:prstGeom prst="rect">
            <a:avLst/>
          </a:prstGeom>
          <a:solidFill>
            <a:srgbClr val="D89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746504"/>
            <a:ext cx="315467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WEEK 7 | PCA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127248" cy="10789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Retained 95.02% of variance using 54 principal components.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542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10515600" cy="9144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73343"/>
                </a:solidFill>
                <a:latin typeface="Aptos"/>
              </a:defRPr>
            </a:pPr>
            <a:r>
              <a:t>Prepare the autoimmune disorder dataset for further analysis by transforming variables, examining numerical distributions, selecting informative features, and reducing dimensionality.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Dataset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Summary of dataset preparation reported across Week 6 and Week 7.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233172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8B82"/>
                </a:solidFill>
                <a:latin typeface="Aptos"/>
              </a:defRPr>
            </a:pPr>
            <a:r>
              <a:t>12,500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233172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5657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508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664208"/>
            <a:ext cx="233172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8B82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03120"/>
            <a:ext cx="233172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5657A"/>
                </a:solidFill>
                <a:latin typeface="Aptos"/>
              </a:defRPr>
            </a:pPr>
            <a:r>
              <a:t>Week 6 original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08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1664208"/>
            <a:ext cx="233172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8B82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103120"/>
            <a:ext cx="233172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5657A"/>
                </a:solidFill>
                <a:latin typeface="Aptos"/>
              </a:defRPr>
            </a:pPr>
            <a:r>
              <a:t>prepared numerical 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508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19" y="1664208"/>
            <a:ext cx="233172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008B82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103120"/>
            <a:ext cx="233172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5657A"/>
                </a:solidFill>
                <a:latin typeface="Aptos"/>
              </a:defRPr>
            </a:pPr>
            <a:r>
              <a:t>PCA components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521208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68580" cy="219456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209544"/>
            <a:ext cx="489204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66160"/>
            <a:ext cx="4864608" cy="1627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Python • Pandas • NumPy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Scikit-learn: scaling, encoding, feature selection, PCA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Matplotlib and Seaborn for visualization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Google Colab / Jupyter Notebook; CSV outputs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063240"/>
            <a:ext cx="5212080" cy="219456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063240"/>
            <a:ext cx="68580" cy="2194560"/>
          </a:xfrm>
          <a:prstGeom prst="rect">
            <a:avLst/>
          </a:prstGeom>
          <a:solidFill>
            <a:srgbClr val="29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209544"/>
            <a:ext cx="489204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PREPARATION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4864608" cy="1627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Target: Diagnosis_Encoded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Patient_ID and target excluded from PCA inputs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Constant-valued columns removed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Missing numerical values filled with feature medians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Week 6 | Feature Engineering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Preparing the dataset for statistical analysis and subsequent dimensionality reduction.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rPr dirty="0"/>
              <a:t>WEEK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993392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75104"/>
            <a:ext cx="45720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B8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7373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61488"/>
            <a:ext cx="1737360" cy="56692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12,500 records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76 columns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96312" y="2651760"/>
            <a:ext cx="265176" cy="0"/>
          </a:xfrm>
          <a:prstGeom prst="line">
            <a:avLst/>
          </a:prstGeom>
          <a:ln w="25400">
            <a:solidFill>
              <a:srgbClr val="00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2928" y="1828800"/>
            <a:ext cx="1993392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0088" y="1975104"/>
            <a:ext cx="45720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B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331720"/>
            <a:ext cx="17373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Scale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761488"/>
            <a:ext cx="1737360" cy="56692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24 numerical features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Range: 0–1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2651760"/>
            <a:ext cx="265176" cy="0"/>
          </a:xfrm>
          <a:prstGeom prst="line">
            <a:avLst/>
          </a:prstGeom>
          <a:ln w="25400">
            <a:solidFill>
              <a:srgbClr val="00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02936" y="1828800"/>
            <a:ext cx="1993392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0096" y="1975104"/>
            <a:ext cx="45720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B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331720"/>
            <a:ext cx="17373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Encode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761488"/>
            <a:ext cx="1737360" cy="56692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Gender: one-hot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Diagnosis: labels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96327" y="2651760"/>
            <a:ext cx="265177" cy="0"/>
          </a:xfrm>
          <a:prstGeom prst="line">
            <a:avLst/>
          </a:prstGeom>
          <a:ln w="25400">
            <a:solidFill>
              <a:srgbClr val="00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52944" y="1828800"/>
            <a:ext cx="1993392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0104" y="1975104"/>
            <a:ext cx="45720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B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331720"/>
            <a:ext cx="17373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761488"/>
            <a:ext cx="1737360" cy="56692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Skewness for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24 features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46336" y="2651760"/>
            <a:ext cx="265176" cy="0"/>
          </a:xfrm>
          <a:prstGeom prst="line">
            <a:avLst/>
          </a:prstGeom>
          <a:ln w="25400">
            <a:solidFill>
              <a:srgbClr val="00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02952" y="1828800"/>
            <a:ext cx="1993392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40112" y="1975104"/>
            <a:ext cx="457200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B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331720"/>
            <a:ext cx="17373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761488"/>
            <a:ext cx="1737360" cy="56692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Processed CSV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for Week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069080"/>
            <a:ext cx="105156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32542"/>
                </a:solidFill>
                <a:latin typeface="Aptos"/>
              </a:defRPr>
            </a:pPr>
            <a:r>
              <a:t>Min–Max scaling formula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8B82"/>
                </a:solidFill>
                <a:latin typeface="Aptos"/>
              </a:defRPr>
            </a:pPr>
            <a:r>
              <a:t>X_scaled = (X − X_min) / (X_max − X_min)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57800"/>
            <a:ext cx="1042416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5657A"/>
                </a:solidFill>
                <a:latin typeface="Aptos"/>
              </a:defRPr>
            </a:pPr>
            <a:r>
              <a:t>This transformation places each selected numerical feature on a common 0–1 scale. It does not by itself remove outliers or guarantee a normal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Week 6 | Categorical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Categories were represented numerically for downstream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84632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542"/>
                </a:solidFill>
                <a:latin typeface="Aptos"/>
              </a:defRPr>
            </a:pPr>
            <a:r>
              <a:t>One-hot encoding: Gender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11680"/>
            <a:ext cx="1554480" cy="484632"/>
          </a:xfrm>
          <a:prstGeom prst="rect">
            <a:avLst/>
          </a:prstGeom>
          <a:solidFill>
            <a:srgbClr val="132542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Gender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011680"/>
            <a:ext cx="1554480" cy="484632"/>
          </a:xfrm>
          <a:prstGeom prst="rect">
            <a:avLst/>
          </a:prstGeom>
          <a:solidFill>
            <a:srgbClr val="132542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212140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011680"/>
            <a:ext cx="1554480" cy="484632"/>
          </a:xfrm>
          <a:prstGeom prst="rect">
            <a:avLst/>
          </a:prstGeom>
          <a:solidFill>
            <a:srgbClr val="132542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59" y="212140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14600"/>
            <a:ext cx="1554480" cy="484632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62432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514600"/>
            <a:ext cx="1554480" cy="484632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262432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2514600"/>
            <a:ext cx="1554480" cy="484632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59" y="262432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17520"/>
            <a:ext cx="155448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12724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017520"/>
            <a:ext cx="155448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312724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017520"/>
            <a:ext cx="155448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59" y="3127248"/>
            <a:ext cx="1463040" cy="237744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508760"/>
            <a:ext cx="475488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542"/>
                </a:solidFill>
                <a:latin typeface="Aptos"/>
              </a:defRPr>
            </a:pPr>
            <a:r>
              <a:t>Label encoding: Diagnosis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011680"/>
            <a:ext cx="4663440" cy="1371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343"/>
                </a:solidFill>
                <a:latin typeface="Aptos"/>
              </a:defRPr>
            </a:pPr>
            <a:r>
              <a:t>•  Each distinct diagnosis is assigned an integer label.</a:t>
            </a:r>
          </a:p>
          <a:p>
            <a:pPr>
              <a:spcAft>
                <a:spcPts val="500"/>
              </a:spcAft>
              <a:defRPr sz="1400" b="0">
                <a:solidFill>
                  <a:srgbClr val="273343"/>
                </a:solidFill>
                <a:latin typeface="Aptos"/>
              </a:defRPr>
            </a:pPr>
            <a:r>
              <a:t>•  The integer represents a category, not severity or importance.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069080"/>
            <a:ext cx="4937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" y="4069080"/>
            <a:ext cx="68580" cy="114300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215384"/>
            <a:ext cx="46177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OBSERVED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572000"/>
            <a:ext cx="4590288" cy="57607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The report notes 78 columns after encoding.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69080"/>
            <a:ext cx="49377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069080"/>
            <a:ext cx="68580" cy="1143000"/>
          </a:xfrm>
          <a:prstGeom prst="rect">
            <a:avLst/>
          </a:prstGeom>
          <a:solidFill>
            <a:srgbClr val="29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215384"/>
            <a:ext cx="46177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72000"/>
            <a:ext cx="4590288" cy="57607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Consistent numeric representation supports later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Week 6 | Skewness of Numerical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Reported skewness values for 24 numerical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25880"/>
          <a:ext cx="76352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1554480"/>
            <a:ext cx="301752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542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017520" cy="2651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Hematocrit: highest positive skewness (0.3535).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C3: lowest skewness (−0.1025).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All reported values are between about −0.103 and 0.354.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Skewness near zero suggests limited asymmetry; it does not prove normality.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983480"/>
            <a:ext cx="2971800" cy="6400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Further checks: histograms, Q–Q plots, and outlier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Week 7 | From Prepared Data to Reduced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The Week 6 exported dataset becomes the input for Week 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WEEK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68580" cy="160020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92224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INPUT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2944368" cy="103327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Week 6 feature-engineered CSV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12,500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45920"/>
            <a:ext cx="32918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68580" cy="1600200"/>
          </a:xfrm>
          <a:prstGeom prst="rect">
            <a:avLst/>
          </a:prstGeom>
          <a:solidFill>
            <a:srgbClr val="29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792224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PREPARE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2944368" cy="103327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Separate target; exclude Patient_ID; remove constant columns; impute missing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29184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68580" cy="1600200"/>
          </a:xfrm>
          <a:prstGeom prst="rect">
            <a:avLst/>
          </a:prstGeom>
          <a:solidFill>
            <a:srgbClr val="D89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92224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2944368" cy="103327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StandardScaler puts numerical inputs on comparable scales before selection and PCA.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50791" y="2450592"/>
            <a:ext cx="292609" cy="0"/>
          </a:xfrm>
          <a:prstGeom prst="line">
            <a:avLst/>
          </a:prstGeom>
          <a:ln w="25400">
            <a:solidFill>
              <a:srgbClr val="00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2450592"/>
            <a:ext cx="292608" cy="0"/>
          </a:xfrm>
          <a:prstGeom prst="line">
            <a:avLst/>
          </a:prstGeom>
          <a:ln w="25400">
            <a:solidFill>
              <a:srgbClr val="008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3794760"/>
            <a:ext cx="1042416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542"/>
                </a:solidFill>
                <a:latin typeface="Aptos"/>
              </a:defRPr>
            </a:pPr>
            <a:r>
              <a:t>Why reduce dimensions?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10332720" cy="1325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73343"/>
                </a:solidFill>
                <a:latin typeface="Aptos"/>
              </a:defRPr>
            </a:pPr>
            <a:r>
              <a:t>•  Many input variables can increase storage and computation and may contain redundant information.</a:t>
            </a:r>
          </a:p>
          <a:p>
            <a:pPr>
              <a:spcAft>
                <a:spcPts val="500"/>
              </a:spcAft>
              <a:defRPr sz="1400" b="0">
                <a:solidFill>
                  <a:srgbClr val="273343"/>
                </a:solidFill>
                <a:latin typeface="Aptos"/>
              </a:defRPr>
            </a:pPr>
            <a:r>
              <a:t>•  Feature selection retains original variables; PCA creates new variables called principal components.</a:t>
            </a:r>
          </a:p>
          <a:p>
            <a:pPr>
              <a:spcAft>
                <a:spcPts val="500"/>
              </a:spcAft>
              <a:defRPr sz="1400" b="0">
                <a:solidFill>
                  <a:srgbClr val="273343"/>
                </a:solidFill>
                <a:latin typeface="Aptos"/>
              </a:defRPr>
            </a:pPr>
            <a:r>
              <a:t>•  These methods provide different representations and should not be treated as equivalent.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Week 7 | Top 10 Features by Mutual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SelectKBest ranks prepared input features against Diagnosis_Encoded.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WEEK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417320"/>
          <a:ext cx="70866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1645920"/>
            <a:ext cx="338328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2542"/>
                </a:solidFill>
                <a:latin typeface="Aptos"/>
              </a:defRPr>
            </a:pPr>
            <a:r>
              <a:t>How to interpret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03120"/>
            <a:ext cx="3383280" cy="21031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73343"/>
                </a:solidFill>
                <a:latin typeface="Aptos"/>
              </a:defRPr>
            </a:pPr>
            <a:r>
              <a:t>•  Mutual information estimates how much information a feature provides about the target.</a:t>
            </a:r>
          </a:p>
          <a:p>
            <a:pPr>
              <a:spcAft>
                <a:spcPts val="500"/>
              </a:spcAft>
              <a:defRPr sz="1200" b="0">
                <a:solidFill>
                  <a:srgbClr val="273343"/>
                </a:solidFill>
                <a:latin typeface="Aptos"/>
              </a:defRPr>
            </a:pPr>
            <a:r>
              <a:t>•  ACPA has the highest score (0.506712), followed by CRP (0.499776).</a:t>
            </a:r>
          </a:p>
          <a:p>
            <a:pPr>
              <a:spcAft>
                <a:spcPts val="500"/>
              </a:spcAft>
              <a:defRPr sz="1200" b="0">
                <a:solidFill>
                  <a:srgbClr val="273343"/>
                </a:solidFill>
                <a:latin typeface="Aptos"/>
              </a:defRPr>
            </a:pPr>
            <a:r>
              <a:t>•  The selected features retain their original names.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572000"/>
            <a:ext cx="33832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4572000"/>
            <a:ext cx="68580" cy="914400"/>
          </a:xfrm>
          <a:prstGeom prst="rect">
            <a:avLst/>
          </a:prstGeom>
          <a:solidFill>
            <a:srgbClr val="D89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59" y="4718304"/>
            <a:ext cx="306324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5074920"/>
            <a:ext cx="3035808" cy="34747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Association does not establish causation or clinical importance.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Week 7 | Principal Component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PCA transforms standardized inputs into new components ordered by explained variance.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WEEK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68580" cy="1508760"/>
          </a:xfrm>
          <a:prstGeom prst="rect">
            <a:avLst/>
          </a:prstGeom>
          <a:solidFill>
            <a:srgbClr val="29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92224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BEFORE 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2944368" cy="9418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75 standardized numerical dimensions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45920"/>
            <a:ext cx="32918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68580" cy="150876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792224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AFTER PCA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2944368" cy="9418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54 principal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2918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68580" cy="1508760"/>
          </a:xfrm>
          <a:prstGeom prst="rect">
            <a:avLst/>
          </a:prstGeom>
          <a:solidFill>
            <a:srgbClr val="D89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92224"/>
            <a:ext cx="297180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VARIANCE RETAINED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2944368" cy="9418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95.02% using 54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542"/>
                </a:solidFill>
                <a:latin typeface="Aptos"/>
              </a:defRPr>
            </a:pPr>
            <a:r>
              <a:t>Cumulative explained variance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89120"/>
            <a:ext cx="9875520" cy="411480"/>
          </a:xfrm>
          <a:prstGeom prst="round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4389120"/>
            <a:ext cx="9383719" cy="411480"/>
          </a:xfrm>
          <a:prstGeom prst="round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956048"/>
            <a:ext cx="98755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73343"/>
                </a:solidFill>
                <a:latin typeface="Aptos"/>
              </a:defRPr>
            </a:pPr>
            <a:r>
              <a:t>95.02% of variance retained  |  4.98% not represented by the selected 54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9875520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5657A"/>
                </a:solidFill>
                <a:latin typeface="Aptos"/>
              </a:defRPr>
            </a:pPr>
            <a:r>
              <a:t>The report provides the cumulative result; individual component variance values are not shown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Results Summary &amp; Exported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Comparison of original inputs, selected features, and PCA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PROJECT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743200" cy="539496"/>
          </a:xfrm>
          <a:prstGeom prst="rect">
            <a:avLst/>
          </a:prstGeom>
          <a:solidFill>
            <a:srgbClr val="132542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64207"/>
            <a:ext cx="25603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554480"/>
            <a:ext cx="2103120" cy="539496"/>
          </a:xfrm>
          <a:prstGeom prst="rect">
            <a:avLst/>
          </a:prstGeom>
          <a:solidFill>
            <a:srgbClr val="132542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664207"/>
            <a:ext cx="192023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DIMENSIONS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554480"/>
            <a:ext cx="5394960" cy="539496"/>
          </a:xfrm>
          <a:prstGeom prst="rect">
            <a:avLst/>
          </a:prstGeom>
          <a:solidFill>
            <a:srgbClr val="132542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59" y="1664207"/>
            <a:ext cx="521208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21408"/>
            <a:ext cx="2743200" cy="539496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231136"/>
            <a:ext cx="25603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Original prepared inputs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121408"/>
            <a:ext cx="2103120" cy="539496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2231136"/>
            <a:ext cx="192023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121408"/>
            <a:ext cx="5394960" cy="539496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59" y="2231136"/>
            <a:ext cx="521208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All prepared numerical inputs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88336"/>
            <a:ext cx="274320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798064"/>
            <a:ext cx="25603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688336"/>
            <a:ext cx="21031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2798064"/>
            <a:ext cx="192023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688336"/>
            <a:ext cx="5394960" cy="539496"/>
          </a:xfrm>
          <a:prstGeom prst="rect">
            <a:avLst/>
          </a:prstGeom>
          <a:solidFill>
            <a:srgbClr val="FFFFFF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159" y="2798064"/>
            <a:ext cx="521208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Subset of original variables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255263"/>
            <a:ext cx="2743200" cy="539496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364991"/>
            <a:ext cx="25603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255263"/>
            <a:ext cx="2103120" cy="539496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3364991"/>
            <a:ext cx="1920239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255263"/>
            <a:ext cx="5394960" cy="539496"/>
          </a:xfrm>
          <a:prstGeom prst="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59" y="3364991"/>
            <a:ext cx="521208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New components; 95.02% variance retained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34340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343400"/>
            <a:ext cx="68580" cy="114300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489704"/>
            <a:ext cx="48463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WEEK 6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846320"/>
            <a:ext cx="4818888" cy="57607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Week6_Feature_Engineered_Dataset.csv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343400"/>
            <a:ext cx="51663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343400"/>
            <a:ext cx="68580" cy="1143000"/>
          </a:xfrm>
          <a:prstGeom prst="rect">
            <a:avLst/>
          </a:prstGeom>
          <a:solidFill>
            <a:srgbClr val="29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489704"/>
            <a:ext cx="484632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t>WEEK 7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4818888" cy="57607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Week7_PCA_Reduced_Dataset.csv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Week7_Feature_Selection_Scores.csv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78752"/>
            <a:ext cx="9875520" cy="473976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rPr dirty="0"/>
              <a:t> 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55064"/>
            <a:ext cx="68580" cy="2011680"/>
          </a:xfrm>
          <a:prstGeom prst="rect">
            <a:avLst/>
          </a:prstGeom>
          <a:solidFill>
            <a:srgbClr val="D89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2970" y="1600880"/>
            <a:ext cx="521208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34390" y="1655064"/>
            <a:ext cx="68580" cy="2011680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3807" y="1965280"/>
            <a:ext cx="4892040" cy="292608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32542"/>
                </a:solidFill>
                <a:latin typeface="Aptos"/>
              </a:defRPr>
            </a:pPr>
            <a:r>
              <a:rPr dirty="0"/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239" y="2331720"/>
            <a:ext cx="4864608" cy="144475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rPr dirty="0"/>
              <a:t>Compare models using original, selected, and PCA features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rPr dirty="0"/>
              <a:t>Use train/test split and fit preprocessing on training data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rPr dirty="0"/>
              <a:t>Test alternative feature counts and PCA thresholds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rPr dirty="0"/>
              <a:t>Add histograms, box plots, correlation heatmap, and scree plot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424160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5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10424160" cy="9601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73343"/>
                </a:solidFill>
                <a:latin typeface="Aptos"/>
              </a:defRPr>
            </a:pPr>
            <a:r>
              <a:rPr dirty="0"/>
              <a:t>Week 6 established a feature-engineered dataset and assessed numerical skewness. Week 7 applied feature selection and PCA, retaining 95.02% of variance with 54 components. These steps create a foundation for deeper analysis and future model experiments.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8755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32542"/>
                </a:solidFill>
                <a:latin typeface="Aptos"/>
              </a:defRPr>
            </a:pPr>
            <a:r>
              <a:t>References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05256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5657A"/>
                </a:solidFill>
                <a:latin typeface="Aptos"/>
              </a:defRPr>
            </a:pPr>
            <a:r>
              <a:t>Data Science and Visualization • Team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438912"/>
            <a:ext cx="1828800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008B82"/>
                </a:solidFill>
                <a:latin typeface="Aptos"/>
              </a:defRPr>
            </a:pPr>
            <a:r>
              <a:t>PROJECT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8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5657A"/>
                </a:solidFill>
                <a:latin typeface="Aptos"/>
              </a:defRPr>
            </a:pPr>
            <a:r>
              <a:t>DATA SCIENCE AND VISUALIZATION  |  TEAM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01384"/>
            <a:ext cx="54864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565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32542"/>
                </a:solidFill>
                <a:latin typeface="Aptos"/>
              </a:defRPr>
            </a:pPr>
            <a:r>
              <a:t>DATASET AND PROJECT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792" y="1838632"/>
            <a:ext cx="10515600" cy="943335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rPr dirty="0"/>
              <a:t>•  Kaggle — Comprehensive Autoimmune Disorder Dataset: </a:t>
            </a:r>
            <a:r>
              <a:rPr dirty="0">
                <a:hlinkClick r:id="rId2"/>
              </a:rPr>
              <a:t>https://www.kaggle.com/datasets/abdullahragheb/all-autoimmune-disorder-10k</a:t>
            </a:r>
            <a:endParaRPr lang="en-US" dirty="0"/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rPr dirty="0"/>
              <a:t>•  Team 12 GitHub repository: </a:t>
            </a:r>
            <a:r>
              <a:rPr dirty="0">
                <a:hlinkClick r:id="rId3"/>
              </a:rPr>
              <a:t>https://github.com/nivetha486/24ADI204_DSV_Team12</a:t>
            </a:r>
            <a:endParaRPr lang="en-US" dirty="0"/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42416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32542"/>
                </a:solidFill>
                <a:latin typeface="Aptos"/>
              </a:defRPr>
            </a:pPr>
            <a:r>
              <a:t>TECHNICAL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515600" cy="12801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Scikit-learn: Feature selection — scikit-learn.org/stable/modules/feature_selection.html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Scikit-learn: PCA — scikit-learn.org/stable/modules/decomposition.html#pca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Scikit-learn: StandardScaler — scikit-learn.org/stable/modules/generated/sklearn.preprocessing.StandardScaler.html</a:t>
            </a:r>
          </a:p>
          <a:p>
            <a:pPr>
              <a:spcAft>
                <a:spcPts val="500"/>
              </a:spcAft>
              <a:defRPr sz="1100" b="0">
                <a:solidFill>
                  <a:srgbClr val="273343"/>
                </a:solidFill>
                <a:latin typeface="Aptos"/>
              </a:defRPr>
            </a:pPr>
            <a:r>
              <a:t>•  Pandas documentation — pandas.pydata.org/docs/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5257800"/>
            <a:ext cx="4572000" cy="685800"/>
          </a:xfrm>
          <a:prstGeom prst="roundRect">
            <a:avLst/>
          </a:prstGeom>
          <a:solidFill>
            <a:srgbClr val="13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86200" y="5303829"/>
            <a:ext cx="4297680" cy="56630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3200" dirty="0"/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1166</Words>
  <Application>Microsoft Office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Nivetha S</cp:lastModifiedBy>
  <cp:revision>2</cp:revision>
  <dcterms:created xsi:type="dcterms:W3CDTF">2013-01-27T09:14:16Z</dcterms:created>
  <dcterms:modified xsi:type="dcterms:W3CDTF">2026-10-14T09:01:00Z</dcterms:modified>
  <cp:category/>
</cp:coreProperties>
</file>