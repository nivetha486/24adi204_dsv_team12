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EF"/>
        </a:solidFill>
      </p:bgPr>
    </p:bg>
    <p:spTree>
      <p:nvGrpSpPr>
        <p:cNvPr id="1" name=""/>
        <p:cNvGrpSpPr/>
        <p:nvPr/>
      </p:nvGrpSpPr>
      <p:grpSpPr>
        <a:xfrm>
          <a:off x="0" y="0"/>
          <a:ext cx="0" cy="0"/>
          <a:chOff x="0" y="0"/>
          <a:chExt cx="0" cy="0"/>
        </a:xfrm>
      </p:grpSpPr>
      <p:pic>
        <p:nvPicPr>
          <p:cNvPr id="2" name="Image 0" descr="title_blob1.png">    </p:cNvPr>
          <p:cNvPicPr>
            <a:picLocks noChangeAspect="1"/>
          </p:cNvPicPr>
          <p:nvPr/>
        </p:nvPicPr>
        <p:blipFill>
          <a:blip r:embed="rId1"/>
          <a:stretch>
            <a:fillRect/>
          </a:stretch>
        </p:blipFill>
        <p:spPr>
          <a:xfrm>
            <a:off x="-1371600" y="-457200"/>
            <a:ext cx="5669280" cy="7772400"/>
          </a:xfrm>
          <a:prstGeom prst="rect">
            <a:avLst/>
          </a:prstGeom>
        </p:spPr>
      </p:pic>
      <p:pic>
        <p:nvPicPr>
          <p:cNvPr id="3" name="Image 1" descr="title_blob2.png">    </p:cNvPr>
          <p:cNvPicPr>
            <a:picLocks noChangeAspect="1"/>
          </p:cNvPicPr>
          <p:nvPr/>
        </p:nvPicPr>
        <p:blipFill>
          <a:blip r:embed="rId2"/>
          <a:stretch>
            <a:fillRect/>
          </a:stretch>
        </p:blipFill>
        <p:spPr>
          <a:xfrm>
            <a:off x="-1737360" y="-457200"/>
            <a:ext cx="4937760" cy="7772400"/>
          </a:xfrm>
          <a:prstGeom prst="rect">
            <a:avLst/>
          </a:prstGeom>
        </p:spPr>
      </p:pic>
      <p:pic>
        <p:nvPicPr>
          <p:cNvPr id="4" name="Image 2" descr="title_blob3.png">    </p:cNvPr>
          <p:cNvPicPr>
            <a:picLocks noChangeAspect="1"/>
          </p:cNvPicPr>
          <p:nvPr/>
        </p:nvPicPr>
        <p:blipFill>
          <a:blip r:embed="rId3"/>
          <a:stretch>
            <a:fillRect/>
          </a:stretch>
        </p:blipFill>
        <p:spPr>
          <a:xfrm>
            <a:off x="-2103120" y="-457200"/>
            <a:ext cx="4206240" cy="7772400"/>
          </a:xfrm>
          <a:prstGeom prst="rect">
            <a:avLst/>
          </a:prstGeom>
        </p:spPr>
      </p:pic>
      <p:pic>
        <p:nvPicPr>
          <p:cNvPr id="5" name="Image 3" descr="wave_br.png">    </p:cNvPr>
          <p:cNvPicPr>
            <a:picLocks noChangeAspect="1"/>
          </p:cNvPicPr>
          <p:nvPr/>
        </p:nvPicPr>
        <p:blipFill>
          <a:blip r:embed="rId4"/>
          <a:stretch>
            <a:fillRect/>
          </a:stretch>
        </p:blipFill>
        <p:spPr>
          <a:xfrm>
            <a:off x="8778240" y="-1280160"/>
            <a:ext cx="4754880" cy="4754880"/>
          </a:xfrm>
          <a:prstGeom prst="rect">
            <a:avLst/>
          </a:prstGeom>
        </p:spPr>
      </p:pic>
      <p:pic>
        <p:nvPicPr>
          <p:cNvPr id="6" name="Image 4" descr="wave_br.png">    </p:cNvPr>
          <p:cNvPicPr>
            <a:picLocks noChangeAspect="1"/>
          </p:cNvPicPr>
          <p:nvPr/>
        </p:nvPicPr>
        <p:blipFill>
          <a:blip r:embed="rId5"/>
          <a:stretch>
            <a:fillRect/>
          </a:stretch>
        </p:blipFill>
        <p:spPr>
          <a:xfrm>
            <a:off x="8229600" y="4206240"/>
            <a:ext cx="4937760" cy="4937760"/>
          </a:xfrm>
          <a:prstGeom prst="rect">
            <a:avLst/>
          </a:prstGeom>
        </p:spPr>
      </p:pic>
      <p:sp>
        <p:nvSpPr>
          <p:cNvPr id="7" name="Text 0"/>
          <p:cNvSpPr/>
          <p:nvPr/>
        </p:nvSpPr>
        <p:spPr>
          <a:xfrm>
            <a:off x="1554480" y="502920"/>
            <a:ext cx="9326880" cy="1554480"/>
          </a:xfrm>
          <a:prstGeom prst="rect">
            <a:avLst/>
          </a:prstGeom>
          <a:noFill/>
          <a:ln/>
        </p:spPr>
        <p:txBody>
          <a:bodyPr wrap="square" rtlCol="0" anchor="ctr"/>
          <a:lstStyle/>
          <a:p>
            <a:pPr algn="l" indent="0" marL="0">
              <a:buNone/>
            </a:pPr>
            <a:r>
              <a:rPr lang="en-US" sz="3400" b="1" i="1" dirty="0">
                <a:solidFill>
                  <a:srgbClr val="111111"/>
                </a:solidFill>
                <a:latin typeface="Georgia" pitchFamily="34" charset="0"/>
                <a:ea typeface="Georgia" pitchFamily="34" charset="-122"/>
                <a:cs typeface="Georgia" pitchFamily="34" charset="-120"/>
              </a:rPr>
              <a:t>Autoimmune Disorder Data Analysis and Visualization</a:t>
            </a:r>
            <a:endParaRPr lang="en-US" sz="3400" dirty="0"/>
          </a:p>
        </p:txBody>
      </p:sp>
      <p:sp>
        <p:nvSpPr>
          <p:cNvPr id="8" name="Text 1"/>
          <p:cNvSpPr/>
          <p:nvPr/>
        </p:nvSpPr>
        <p:spPr>
          <a:xfrm>
            <a:off x="1554480" y="1965960"/>
            <a:ext cx="8778240" cy="822960"/>
          </a:xfrm>
          <a:prstGeom prst="rect">
            <a:avLst/>
          </a:prstGeom>
          <a:noFill/>
          <a:ln/>
        </p:spPr>
        <p:txBody>
          <a:bodyPr wrap="square" rtlCol="0" anchor="ctr"/>
          <a:lstStyle/>
          <a:p>
            <a:pPr indent="0" marL="0">
              <a:buNone/>
            </a:pPr>
            <a:r>
              <a:rPr lang="en-US" sz="1700" i="1" dirty="0">
                <a:solidFill>
                  <a:srgbClr val="222222"/>
                </a:solidFill>
                <a:latin typeface="Georgia" pitchFamily="34" charset="0"/>
                <a:ea typeface="Georgia" pitchFamily="34" charset="-122"/>
                <a:cs typeface="Georgia" pitchFamily="34" charset="-120"/>
              </a:rPr>
              <a:t>Exploring Disease Patterns, Symptoms, Biomarkers, and Patient Demographics through Data Visualization</a:t>
            </a:r>
            <a:endParaRPr lang="en-US" sz="1700" dirty="0"/>
          </a:p>
        </p:txBody>
      </p:sp>
      <p:sp>
        <p:nvSpPr>
          <p:cNvPr id="9" name="Text 2"/>
          <p:cNvSpPr/>
          <p:nvPr/>
        </p:nvSpPr>
        <p:spPr>
          <a:xfrm>
            <a:off x="1554480" y="2971800"/>
            <a:ext cx="8778240" cy="457200"/>
          </a:xfrm>
          <a:prstGeom prst="rect">
            <a:avLst/>
          </a:prstGeom>
          <a:noFill/>
          <a:ln/>
        </p:spPr>
        <p:txBody>
          <a:bodyPr wrap="square" rtlCol="0" anchor="ctr"/>
          <a:lstStyle/>
          <a:p>
            <a:pPr indent="0" marL="0">
              <a:buNone/>
            </a:pPr>
            <a:r>
              <a:rPr lang="en-US" sz="1800" b="1" i="1" dirty="0">
                <a:solidFill>
                  <a:srgbClr val="111111"/>
                </a:solidFill>
                <a:latin typeface="Georgia" pitchFamily="34" charset="0"/>
                <a:ea typeface="Georgia" pitchFamily="34" charset="-122"/>
                <a:cs typeface="Georgia" pitchFamily="34" charset="-120"/>
              </a:rPr>
              <a:t>Course: </a:t>
            </a:r>
            <a:pPr indent="0" marL="0">
              <a:buNone/>
            </a:pPr>
            <a:r>
              <a:rPr lang="en-US" sz="1800" b="1" i="1" dirty="0">
                <a:solidFill>
                  <a:srgbClr val="111111"/>
                </a:solidFill>
                <a:latin typeface="Georgia" pitchFamily="34" charset="0"/>
                <a:ea typeface="Georgia" pitchFamily="34" charset="-122"/>
                <a:cs typeface="Georgia" pitchFamily="34" charset="-120"/>
              </a:rPr>
              <a:t>Data Science and Visualization (24ADI024)</a:t>
            </a:r>
            <a:endParaRPr lang="en-US" sz="1800" dirty="0"/>
          </a:p>
        </p:txBody>
      </p:sp>
      <p:sp>
        <p:nvSpPr>
          <p:cNvPr id="10" name="Text 3"/>
          <p:cNvSpPr/>
          <p:nvPr/>
        </p:nvSpPr>
        <p:spPr>
          <a:xfrm>
            <a:off x="1737360" y="3749040"/>
            <a:ext cx="5486400" cy="365760"/>
          </a:xfrm>
          <a:prstGeom prst="rect">
            <a:avLst/>
          </a:prstGeom>
          <a:noFill/>
          <a:ln/>
        </p:spPr>
        <p:txBody>
          <a:bodyPr wrap="square" rtlCol="0" anchor="ctr"/>
          <a:lstStyle/>
          <a:p>
            <a:pPr indent="0" marL="0">
              <a:buNone/>
            </a:pPr>
            <a:r>
              <a:rPr lang="en-US" sz="1500" i="1" dirty="0">
                <a:solidFill>
                  <a:srgbClr val="111111"/>
                </a:solidFill>
                <a:latin typeface="Georgia" pitchFamily="34" charset="0"/>
                <a:ea typeface="Georgia" pitchFamily="34" charset="-122"/>
                <a:cs typeface="Georgia" pitchFamily="34" charset="-120"/>
              </a:rPr>
              <a:t>Team Members:</a:t>
            </a:r>
            <a:endParaRPr lang="en-US" sz="1500" dirty="0"/>
          </a:p>
        </p:txBody>
      </p:sp>
      <p:sp>
        <p:nvSpPr>
          <p:cNvPr id="11" name="Text 4"/>
          <p:cNvSpPr/>
          <p:nvPr/>
        </p:nvSpPr>
        <p:spPr>
          <a:xfrm>
            <a:off x="1737360" y="4114800"/>
            <a:ext cx="5486400" cy="1645920"/>
          </a:xfrm>
          <a:prstGeom prst="rect">
            <a:avLst/>
          </a:prstGeom>
          <a:noFill/>
          <a:ln/>
        </p:spPr>
        <p:txBody>
          <a:bodyPr wrap="square" rtlCol="0" anchor="ctr"/>
          <a:lstStyle/>
          <a:p>
            <a:pPr algn="l" indent="0" marL="0">
              <a:lnSpc>
                <a:spcPct val="130000"/>
              </a:lnSpc>
              <a:buNone/>
            </a:pPr>
            <a:r>
              <a:rPr lang="en-US" sz="1500" i="1" dirty="0">
                <a:solidFill>
                  <a:srgbClr val="111111"/>
                </a:solidFill>
                <a:latin typeface="Georgia" pitchFamily="34" charset="0"/>
                <a:ea typeface="Georgia" pitchFamily="34" charset="-122"/>
                <a:cs typeface="Georgia" pitchFamily="34" charset="-120"/>
              </a:rPr>
              <a:t>Nivetha S - 25BAD074</a:t>
            </a:r>
            <a:endParaRPr lang="en-US" sz="1500" dirty="0"/>
          </a:p>
          <a:p>
            <a:pPr algn="l" indent="0" marL="0">
              <a:lnSpc>
                <a:spcPct val="130000"/>
              </a:lnSpc>
              <a:buNone/>
            </a:pPr>
            <a:r>
              <a:rPr lang="en-US" sz="1500" i="1" dirty="0">
                <a:solidFill>
                  <a:srgbClr val="111111"/>
                </a:solidFill>
                <a:latin typeface="Georgia" pitchFamily="34" charset="0"/>
                <a:ea typeface="Georgia" pitchFamily="34" charset="-122"/>
                <a:cs typeface="Georgia" pitchFamily="34" charset="-120"/>
              </a:rPr>
              <a:t>Pooja T - 25BAD077</a:t>
            </a:r>
            <a:endParaRPr lang="en-US" sz="1500" dirty="0"/>
          </a:p>
          <a:p>
            <a:pPr algn="l" indent="0" marL="0">
              <a:lnSpc>
                <a:spcPct val="130000"/>
              </a:lnSpc>
              <a:buNone/>
            </a:pPr>
            <a:r>
              <a:rPr lang="en-US" sz="1500" i="1" dirty="0">
                <a:solidFill>
                  <a:srgbClr val="111111"/>
                </a:solidFill>
                <a:latin typeface="Georgia" pitchFamily="34" charset="0"/>
                <a:ea typeface="Georgia" pitchFamily="34" charset="-122"/>
                <a:cs typeface="Georgia" pitchFamily="34" charset="-120"/>
              </a:rPr>
              <a:t>Puvi Priya M - 25BAD084</a:t>
            </a:r>
            <a:endParaRPr lang="en-US" sz="1500" dirty="0"/>
          </a:p>
          <a:p>
            <a:pPr algn="l" indent="0" marL="0">
              <a:lnSpc>
                <a:spcPct val="130000"/>
              </a:lnSpc>
              <a:buNone/>
            </a:pPr>
            <a:r>
              <a:rPr lang="en-US" sz="1500" i="1" dirty="0">
                <a:solidFill>
                  <a:srgbClr val="111111"/>
                </a:solidFill>
                <a:latin typeface="Georgia" pitchFamily="34" charset="0"/>
                <a:ea typeface="Georgia" pitchFamily="34" charset="-122"/>
                <a:cs typeface="Georgia" pitchFamily="34" charset="-120"/>
              </a:rPr>
              <a:t>Vaishnavi D - 25BAD126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INTRODUCTION</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645920"/>
            <a:ext cx="9875520" cy="4114800"/>
          </a:xfrm>
          <a:prstGeom prst="rect">
            <a:avLst/>
          </a:prstGeom>
          <a:noFill/>
          <a:ln/>
        </p:spPr>
        <p:txBody>
          <a:bodyPr wrap="square" rtlCol="0" anchor="ctr"/>
          <a:lstStyle/>
          <a:p>
            <a:pPr indent="0" marL="0">
              <a:lnSpc>
                <a:spcPct val="125000"/>
              </a:lnSpc>
              <a:buNone/>
            </a:pPr>
            <a:r>
              <a:rPr lang="en-US" sz="1800" i="1" dirty="0">
                <a:solidFill>
                  <a:srgbClr val="16324F"/>
                </a:solidFill>
                <a:latin typeface="Georgia" pitchFamily="34" charset="0"/>
                <a:ea typeface="Georgia" pitchFamily="34" charset="-122"/>
                <a:cs typeface="Georgia" pitchFamily="34" charset="-120"/>
              </a:rPr>
              <a:t>Autoimmune disorders occur when the body's immune system mistakenly attacks healthy tissues, leading to chronic inflammation and organ damage. Early diagnosis is often challenging because many autoimmune diseases share similar symptoms. By analyzing patient demographics, clinical symptoms, laboratory results, and biomarker data, data visualization can reveal hidden trends and relationships. This project uses an autoimmune disorder dataset to understand disease prevalence, symptom distribution, laboratory findings, and diagnostic biomarkers, supporting better clinical decision-making and medical research.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PROBLEM STATEMENT</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645920"/>
            <a:ext cx="8778240" cy="4114800"/>
          </a:xfrm>
          <a:prstGeom prst="rect">
            <a:avLst/>
          </a:prstGeom>
          <a:noFill/>
          <a:ln/>
        </p:spPr>
        <p:txBody>
          <a:bodyPr wrap="square" rtlCol="0" anchor="ctr"/>
          <a:lstStyle/>
          <a:p>
            <a:pPr indent="0" marL="0">
              <a:lnSpc>
                <a:spcPct val="130000"/>
              </a:lnSpc>
              <a:buNone/>
            </a:pPr>
            <a:r>
              <a:rPr lang="en-US" sz="1900" i="1" dirty="0">
                <a:solidFill>
                  <a:srgbClr val="16324F"/>
                </a:solidFill>
                <a:latin typeface="Georgia" pitchFamily="34" charset="0"/>
                <a:ea typeface="Georgia" pitchFamily="34" charset="-122"/>
                <a:cs typeface="Georgia" pitchFamily="34" charset="-120"/>
              </a:rPr>
              <a:t>Autoimmune disorders are difficult to diagnose because patients often present overlapping symptoms and varying laboratory findings. Medical professionals must analyze multiple clinical parameters before confirming a diagnosis. Without proper visualization, identifying disease patterns, high-risk groups, and biomarker associations becomes time-consuming. The challenge is to analyze the autoimmune disorder dataset and present meaningful insights using interactive visualizations.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OBJECTIVE</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600200"/>
            <a:ext cx="9418320" cy="4389120"/>
          </a:xfrm>
          <a:prstGeom prst="rect">
            <a:avLst/>
          </a:prstGeom>
          <a:noFill/>
          <a:ln/>
        </p:spPr>
        <p:txBody>
          <a:bodyPr wrap="square" rtlCol="0" anchor="ctr"/>
          <a:lstStyle/>
          <a:p>
            <a:pPr marL="342900" indent="-342900">
              <a:spcAft>
                <a:spcPts val="1600"/>
              </a:spcAft>
              <a:buSzPct val="100000"/>
              <a:buChar char="•"/>
            </a:pPr>
            <a:r>
              <a:rPr lang="en-US" sz="1800" i="1" dirty="0">
                <a:solidFill>
                  <a:srgbClr val="16324F"/>
                </a:solidFill>
                <a:latin typeface="Georgia" pitchFamily="34" charset="0"/>
                <a:ea typeface="Georgia" pitchFamily="34" charset="-122"/>
                <a:cs typeface="Georgia" pitchFamily="34" charset="-120"/>
              </a:rPr>
              <a:t>To analyze the autoimmune disorder dataset.</a:t>
            </a:r>
            <a:endParaRPr lang="en-US" sz="1800" dirty="0"/>
          </a:p>
          <a:p>
            <a:pPr marL="342900" indent="-342900">
              <a:spcAft>
                <a:spcPts val="1600"/>
              </a:spcAft>
              <a:buSzPct val="100000"/>
              <a:buChar char="•"/>
            </a:pPr>
            <a:r>
              <a:rPr lang="en-US" sz="1800" i="1" dirty="0">
                <a:solidFill>
                  <a:srgbClr val="16324F"/>
                </a:solidFill>
                <a:latin typeface="Georgia" pitchFamily="34" charset="0"/>
                <a:ea typeface="Georgia" pitchFamily="34" charset="-122"/>
                <a:cs typeface="Georgia" pitchFamily="34" charset="-120"/>
              </a:rPr>
              <a:t>To perform data preprocessing and exploratory data analysis (EDA).</a:t>
            </a:r>
            <a:endParaRPr lang="en-US" sz="1800" dirty="0"/>
          </a:p>
          <a:p>
            <a:pPr marL="342900" indent="-342900">
              <a:spcAft>
                <a:spcPts val="1600"/>
              </a:spcAft>
              <a:buSzPct val="100000"/>
              <a:buChar char="•"/>
            </a:pPr>
            <a:r>
              <a:rPr lang="en-US" sz="1800" i="1" dirty="0">
                <a:solidFill>
                  <a:srgbClr val="16324F"/>
                </a:solidFill>
                <a:latin typeface="Georgia" pitchFamily="34" charset="0"/>
                <a:ea typeface="Georgia" pitchFamily="34" charset="-122"/>
                <a:cs typeface="Georgia" pitchFamily="34" charset="-120"/>
              </a:rPr>
              <a:t>To identify disease prevalence among different patient groups.</a:t>
            </a:r>
            <a:endParaRPr lang="en-US" sz="1800" dirty="0"/>
          </a:p>
          <a:p>
            <a:pPr marL="342900" indent="-342900">
              <a:spcAft>
                <a:spcPts val="1600"/>
              </a:spcAft>
              <a:buSzPct val="100000"/>
              <a:buChar char="•"/>
            </a:pPr>
            <a:r>
              <a:rPr lang="en-US" sz="1800" i="1" dirty="0">
                <a:solidFill>
                  <a:srgbClr val="16324F"/>
                </a:solidFill>
                <a:latin typeface="Georgia" pitchFamily="34" charset="0"/>
                <a:ea typeface="Georgia" pitchFamily="34" charset="-122"/>
                <a:cs typeface="Georgia" pitchFamily="34" charset="-120"/>
              </a:rPr>
              <a:t>To analyze relationships between symptoms, laboratory tests, and autoimmune disorders.</a:t>
            </a:r>
            <a:endParaRPr lang="en-US" sz="1800" dirty="0"/>
          </a:p>
          <a:p>
            <a:pPr marL="342900" indent="-342900">
              <a:spcAft>
                <a:spcPts val="1600"/>
              </a:spcAft>
              <a:buSzPct val="100000"/>
              <a:buChar char="•"/>
            </a:pPr>
            <a:r>
              <a:rPr lang="en-US" sz="1800" i="1" dirty="0">
                <a:solidFill>
                  <a:srgbClr val="16324F"/>
                </a:solidFill>
                <a:latin typeface="Georgia" pitchFamily="34" charset="0"/>
                <a:ea typeface="Georgia" pitchFamily="34" charset="-122"/>
                <a:cs typeface="Georgia" pitchFamily="34" charset="-120"/>
              </a:rPr>
              <a:t>To create interactive dashboards that assist in understanding disease patterns.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9052560" y="4480560"/>
            <a:ext cx="3657600" cy="365760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DATASET DESCRIPTION</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554480"/>
            <a:ext cx="10058400" cy="365760"/>
          </a:xfrm>
          <a:prstGeom prst="rect">
            <a:avLst/>
          </a:prstGeom>
          <a:noFill/>
          <a:ln/>
        </p:spPr>
        <p:txBody>
          <a:bodyPr wrap="square" rtlCol="0" anchor="ctr"/>
          <a:lstStyle/>
          <a:p>
            <a:pPr indent="0" marL="0">
              <a:buNone/>
            </a:pPr>
            <a:r>
              <a:rPr lang="en-US" sz="1600" b="1" i="1" dirty="0">
                <a:solidFill>
                  <a:srgbClr val="16324F"/>
                </a:solidFill>
                <a:latin typeface="Georgia" pitchFamily="34" charset="0"/>
                <a:ea typeface="Georgia" pitchFamily="34" charset="-122"/>
                <a:cs typeface="Georgia" pitchFamily="34" charset="-120"/>
              </a:rPr>
              <a:t>Dataset Name: </a:t>
            </a:r>
            <a:pPr indent="0" marL="0">
              <a:buNone/>
            </a:pPr>
            <a:r>
              <a:rPr lang="en-US" sz="1600" b="1" i="1" dirty="0">
                <a:solidFill>
                  <a:srgbClr val="16324F"/>
                </a:solidFill>
                <a:latin typeface="Georgia" pitchFamily="34" charset="0"/>
                <a:ea typeface="Georgia" pitchFamily="34" charset="-122"/>
                <a:cs typeface="Georgia" pitchFamily="34" charset="-120"/>
              </a:rPr>
              <a:t>Comprehensive Autoimmune Disorder Dataset</a:t>
            </a:r>
            <a:endParaRPr lang="en-US" sz="1600" dirty="0"/>
          </a:p>
        </p:txBody>
      </p:sp>
      <p:sp>
        <p:nvSpPr>
          <p:cNvPr id="6" name="Text 3"/>
          <p:cNvSpPr/>
          <p:nvPr/>
        </p:nvSpPr>
        <p:spPr>
          <a:xfrm>
            <a:off x="594360" y="1965960"/>
            <a:ext cx="5486400" cy="320040"/>
          </a:xfrm>
          <a:prstGeom prst="rect">
            <a:avLst/>
          </a:prstGeom>
          <a:noFill/>
          <a:ln/>
        </p:spPr>
        <p:txBody>
          <a:bodyPr wrap="square" rtlCol="0" anchor="ctr"/>
          <a:lstStyle/>
          <a:p>
            <a:pPr indent="0" marL="0">
              <a:buNone/>
            </a:pPr>
            <a:r>
              <a:rPr lang="en-US" sz="1600" b="1" i="1" dirty="0">
                <a:solidFill>
                  <a:srgbClr val="16324F"/>
                </a:solidFill>
                <a:latin typeface="Georgia" pitchFamily="34" charset="0"/>
                <a:ea typeface="Georgia" pitchFamily="34" charset="-122"/>
                <a:cs typeface="Georgia" pitchFamily="34" charset="-120"/>
              </a:rPr>
              <a:t>Dataset Details:</a:t>
            </a:r>
            <a:endParaRPr lang="en-US" sz="1600" dirty="0"/>
          </a:p>
        </p:txBody>
      </p:sp>
      <p:sp>
        <p:nvSpPr>
          <p:cNvPr id="7" name="Text 4"/>
          <p:cNvSpPr/>
          <p:nvPr/>
        </p:nvSpPr>
        <p:spPr>
          <a:xfrm>
            <a:off x="594360" y="2331720"/>
            <a:ext cx="5669280" cy="1371600"/>
          </a:xfrm>
          <a:prstGeom prst="rect">
            <a:avLst/>
          </a:prstGeom>
          <a:noFill/>
          <a:ln/>
        </p:spPr>
        <p:txBody>
          <a:bodyPr wrap="square" rtlCol="0" anchor="ctr"/>
          <a:lstStyle/>
          <a:p>
            <a:pPr indent="0" marL="0">
              <a:lnSpc>
                <a:spcPct val="125000"/>
              </a:lnSpc>
              <a:buNone/>
            </a:pPr>
            <a:r>
              <a:rPr lang="en-US" sz="1500" i="1" dirty="0">
                <a:solidFill>
                  <a:srgbClr val="16324F"/>
                </a:solidFill>
                <a:latin typeface="Georgia" pitchFamily="34" charset="0"/>
                <a:ea typeface="Georgia" pitchFamily="34" charset="-122"/>
                <a:cs typeface="Georgia" pitchFamily="34" charset="-120"/>
              </a:rPr>
              <a:t>Source: Kaggle</a:t>
            </a:r>
            <a:endParaRPr lang="en-US" sz="1500" dirty="0"/>
          </a:p>
          <a:p>
            <a:pPr indent="0" marL="0">
              <a:lnSpc>
                <a:spcPct val="125000"/>
              </a:lnSpc>
              <a:buNone/>
            </a:pPr>
            <a:r>
              <a:rPr lang="en-US" sz="1500" i="1" dirty="0">
                <a:solidFill>
                  <a:srgbClr val="16324F"/>
                </a:solidFill>
                <a:latin typeface="Georgia" pitchFamily="34" charset="0"/>
                <a:ea typeface="Georgia" pitchFamily="34" charset="-122"/>
                <a:cs typeface="Georgia" pitchFamily="34" charset="-120"/>
              </a:rPr>
              <a:t>Total Records: 12,500</a:t>
            </a:r>
            <a:endParaRPr lang="en-US" sz="1500" dirty="0"/>
          </a:p>
          <a:p>
            <a:pPr indent="0" marL="0">
              <a:lnSpc>
                <a:spcPct val="125000"/>
              </a:lnSpc>
              <a:buNone/>
            </a:pPr>
            <a:r>
              <a:rPr lang="en-US" sz="1500" i="1" dirty="0">
                <a:solidFill>
                  <a:srgbClr val="16324F"/>
                </a:solidFill>
                <a:latin typeface="Georgia" pitchFamily="34" charset="0"/>
                <a:ea typeface="Georgia" pitchFamily="34" charset="-122"/>
                <a:cs typeface="Georgia" pitchFamily="34" charset="-120"/>
              </a:rPr>
              <a:t>Total Features: 79</a:t>
            </a:r>
            <a:endParaRPr lang="en-US" sz="1500" dirty="0"/>
          </a:p>
          <a:p>
            <a:pPr indent="0" marL="0">
              <a:lnSpc>
                <a:spcPct val="125000"/>
              </a:lnSpc>
              <a:buNone/>
            </a:pPr>
            <a:r>
              <a:rPr lang="en-US" sz="1500" i="1" dirty="0">
                <a:solidFill>
                  <a:srgbClr val="16324F"/>
                </a:solidFill>
                <a:latin typeface="Georgia" pitchFamily="34" charset="0"/>
                <a:ea typeface="Georgia" pitchFamily="34" charset="-122"/>
                <a:cs typeface="Georgia" pitchFamily="34" charset="-120"/>
              </a:rPr>
              <a:t>Target Variable: Autoimmune Disorder Diagnosis</a:t>
            </a:r>
            <a:endParaRPr lang="en-US" sz="1500" dirty="0"/>
          </a:p>
        </p:txBody>
      </p:sp>
      <p:sp>
        <p:nvSpPr>
          <p:cNvPr id="8" name="Text 5"/>
          <p:cNvSpPr/>
          <p:nvPr/>
        </p:nvSpPr>
        <p:spPr>
          <a:xfrm>
            <a:off x="594360" y="3703320"/>
            <a:ext cx="5486400" cy="320040"/>
          </a:xfrm>
          <a:prstGeom prst="rect">
            <a:avLst/>
          </a:prstGeom>
          <a:noFill/>
          <a:ln/>
        </p:spPr>
        <p:txBody>
          <a:bodyPr wrap="square" rtlCol="0" anchor="ctr"/>
          <a:lstStyle/>
          <a:p>
            <a:pPr indent="0" marL="0">
              <a:buNone/>
            </a:pPr>
            <a:r>
              <a:rPr lang="en-US" sz="1600" b="1" i="1" dirty="0">
                <a:solidFill>
                  <a:srgbClr val="16324F"/>
                </a:solidFill>
                <a:latin typeface="Georgia" pitchFamily="34" charset="0"/>
                <a:ea typeface="Georgia" pitchFamily="34" charset="-122"/>
                <a:cs typeface="Georgia" pitchFamily="34" charset="-120"/>
              </a:rPr>
              <a:t>Important Features:</a:t>
            </a:r>
            <a:endParaRPr lang="en-US" sz="1600" dirty="0"/>
          </a:p>
        </p:txBody>
      </p:sp>
      <p:sp>
        <p:nvSpPr>
          <p:cNvPr id="9" name="Text 6"/>
          <p:cNvSpPr/>
          <p:nvPr/>
        </p:nvSpPr>
        <p:spPr>
          <a:xfrm>
            <a:off x="594360" y="4023360"/>
            <a:ext cx="5852160" cy="2194560"/>
          </a:xfrm>
          <a:prstGeom prst="rect">
            <a:avLst/>
          </a:prstGeom>
          <a:noFill/>
          <a:ln/>
        </p:spPr>
        <p:txBody>
          <a:bodyPr wrap="square" rtlCol="0" anchor="ctr"/>
          <a:lstStyle/>
          <a:p>
            <a:pPr marL="342900" indent="-342900">
              <a:spcAft>
                <a:spcPts val="400"/>
              </a:spcAft>
              <a:buSzPct val="100000"/>
              <a:buChar char="•"/>
            </a:pPr>
            <a:r>
              <a:rPr lang="en-US" sz="1350" i="1" dirty="0">
                <a:solidFill>
                  <a:srgbClr val="16324F"/>
                </a:solidFill>
                <a:latin typeface="Georgia" pitchFamily="34" charset="0"/>
                <a:ea typeface="Georgia" pitchFamily="34" charset="-122"/>
                <a:cs typeface="Georgia" pitchFamily="34" charset="-120"/>
              </a:rPr>
              <a:t>Patient ID, Age, Gender</a:t>
            </a:r>
            <a:endParaRPr lang="en-US" sz="1350" dirty="0"/>
          </a:p>
          <a:p>
            <a:pPr marL="342900" indent="-342900">
              <a:spcAft>
                <a:spcPts val="400"/>
              </a:spcAft>
              <a:buSzPct val="100000"/>
              <a:buChar char="•"/>
            </a:pPr>
            <a:r>
              <a:rPr lang="en-US" sz="1350" i="1" dirty="0">
                <a:solidFill>
                  <a:srgbClr val="16324F"/>
                </a:solidFill>
                <a:latin typeface="Georgia" pitchFamily="34" charset="0"/>
                <a:ea typeface="Georgia" pitchFamily="34" charset="-122"/>
                <a:cs typeface="Georgia" pitchFamily="34" charset="-120"/>
              </a:rPr>
              <a:t>Disease Diagnosis</a:t>
            </a:r>
            <a:endParaRPr lang="en-US" sz="1350" dirty="0"/>
          </a:p>
          <a:p>
            <a:pPr marL="342900" indent="-342900">
              <a:spcAft>
                <a:spcPts val="400"/>
              </a:spcAft>
              <a:buSzPct val="100000"/>
              <a:buChar char="•"/>
            </a:pPr>
            <a:r>
              <a:rPr lang="en-US" sz="1350" i="1" dirty="0">
                <a:solidFill>
                  <a:srgbClr val="16324F"/>
                </a:solidFill>
                <a:latin typeface="Georgia" pitchFamily="34" charset="0"/>
                <a:ea typeface="Georgia" pitchFamily="34" charset="-122"/>
                <a:cs typeface="Georgia" pitchFamily="34" charset="-120"/>
              </a:rPr>
              <a:t>Symptoms (Fatigue, Joint Pain, Fever, etc.)</a:t>
            </a:r>
            <a:endParaRPr lang="en-US" sz="1350" dirty="0"/>
          </a:p>
          <a:p>
            <a:pPr marL="342900" indent="-342900">
              <a:spcAft>
                <a:spcPts val="400"/>
              </a:spcAft>
              <a:buSzPct val="100000"/>
              <a:buChar char="•"/>
            </a:pPr>
            <a:r>
              <a:rPr lang="en-US" sz="1350" i="1" dirty="0">
                <a:solidFill>
                  <a:srgbClr val="16324F"/>
                </a:solidFill>
                <a:latin typeface="Georgia" pitchFamily="34" charset="0"/>
                <a:ea typeface="Georgia" pitchFamily="34" charset="-122"/>
                <a:cs typeface="Georgia" pitchFamily="34" charset="-120"/>
              </a:rPr>
              <a:t>Lab Parameters (Hemoglobin, WBC, Platelets, ESR, CRP)</a:t>
            </a:r>
            <a:endParaRPr lang="en-US" sz="1350" dirty="0"/>
          </a:p>
          <a:p>
            <a:pPr marL="342900" indent="-342900">
              <a:spcAft>
                <a:spcPts val="400"/>
              </a:spcAft>
              <a:buSzPct val="100000"/>
              <a:buChar char="•"/>
            </a:pPr>
            <a:r>
              <a:rPr lang="en-US" sz="1350" i="1" dirty="0">
                <a:solidFill>
                  <a:srgbClr val="16324F"/>
                </a:solidFill>
                <a:latin typeface="Georgia" pitchFamily="34" charset="0"/>
                <a:ea typeface="Georgia" pitchFamily="34" charset="-122"/>
                <a:cs typeface="Georgia" pitchFamily="34" charset="-120"/>
              </a:rPr>
              <a:t>Autoantibodies (ANA, Anti-dsDNA, Anti-Sm, Anti-TPO, ACPA)</a:t>
            </a:r>
            <a:endParaRPr lang="en-US" sz="1350" dirty="0"/>
          </a:p>
          <a:p>
            <a:pPr marL="342900" indent="-342900">
              <a:spcAft>
                <a:spcPts val="400"/>
              </a:spcAft>
              <a:buSzPct val="100000"/>
              <a:buChar char="•"/>
            </a:pPr>
            <a:r>
              <a:rPr lang="en-US" sz="1350" i="1" dirty="0">
                <a:solidFill>
                  <a:srgbClr val="16324F"/>
                </a:solidFill>
                <a:latin typeface="Georgia" pitchFamily="34" charset="0"/>
                <a:ea typeface="Georgia" pitchFamily="34" charset="-122"/>
                <a:cs typeface="Georgia" pitchFamily="34" charset="-120"/>
              </a:rPr>
              <a:t>Disease Duration</a:t>
            </a:r>
            <a:endParaRPr lang="en-US" sz="1350" dirty="0"/>
          </a:p>
        </p:txBody>
      </p:sp>
      <p:sp>
        <p:nvSpPr>
          <p:cNvPr id="10" name="Text 7"/>
          <p:cNvSpPr/>
          <p:nvPr/>
        </p:nvSpPr>
        <p:spPr>
          <a:xfrm>
            <a:off x="6675120" y="2331720"/>
            <a:ext cx="4937760" cy="3840480"/>
          </a:xfrm>
          <a:prstGeom prst="rect">
            <a:avLst/>
          </a:prstGeom>
          <a:noFill/>
          <a:ln/>
        </p:spPr>
        <p:txBody>
          <a:bodyPr wrap="square" rtlCol="0" anchor="ctr"/>
          <a:lstStyle/>
          <a:p>
            <a:pPr indent="0" marL="0">
              <a:lnSpc>
                <a:spcPct val="125000"/>
              </a:lnSpc>
              <a:buNone/>
            </a:pPr>
            <a:r>
              <a:rPr lang="en-US" sz="1350" i="1" dirty="0">
                <a:solidFill>
                  <a:srgbClr val="16324F"/>
                </a:solidFill>
                <a:latin typeface="Georgia" pitchFamily="34" charset="0"/>
                <a:ea typeface="Georgia" pitchFamily="34" charset="-122"/>
                <a:cs typeface="Georgia" pitchFamily="34" charset="-120"/>
              </a:rPr>
              <a:t>The dataset contains patient demographic information, clinical symptoms, laboratory findings, inflammatory markers, and autoimmune antibody test results for multiple autoimmune disorders. It is suitable for healthcare data visualization, exploratory data analysis, disease trend analysis, and predictive analytics.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EXISTING SYSTEM</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600200"/>
            <a:ext cx="9601200" cy="4572000"/>
          </a:xfrm>
          <a:prstGeom prst="rect">
            <a:avLst/>
          </a:prstGeom>
          <a:noFill/>
          <a:ln/>
        </p:spPr>
        <p:txBody>
          <a:bodyPr wrap="square" rtlCol="0" anchor="ctr"/>
          <a:lstStyle/>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Patient records are analyzed manually by healthcare professionals.</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Medical reports are often reviewed individually without integrated visual summaries.</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Identifying disease trends across large patient populations is difficult.</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Comparing biomarkers and symptoms across different autoimmune diseases requires significant effort.</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Decision-making may become time-consuming when handling large datasets.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PROPOSED SYSTEM</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600200"/>
            <a:ext cx="9601200" cy="4572000"/>
          </a:xfrm>
          <a:prstGeom prst="rect">
            <a:avLst/>
          </a:prstGeom>
          <a:noFill/>
          <a:ln/>
        </p:spPr>
        <p:txBody>
          <a:bodyPr wrap="square" rtlCol="0" anchor="ctr"/>
          <a:lstStyle/>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Use the autoimmune disorder dataset for detailed analysis.</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Perform data preprocessing to prepare the dataset.</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Conduct Exploratory Data Analysis (EDA).</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Visualize disease distribution, symptoms, demographics, biomarkers, and laboratory findings.</a:t>
            </a:r>
            <a:endParaRPr lang="en-US" sz="1700" dirty="0"/>
          </a:p>
          <a:p>
            <a:pPr marL="342900" indent="-342900">
              <a:spcAft>
                <a:spcPts val="1400"/>
              </a:spcAft>
              <a:buSzPct val="100000"/>
              <a:buChar char="•"/>
            </a:pPr>
            <a:r>
              <a:rPr lang="en-US" sz="1700" i="1" dirty="0">
                <a:solidFill>
                  <a:srgbClr val="16324F"/>
                </a:solidFill>
                <a:latin typeface="Georgia" pitchFamily="34" charset="0"/>
                <a:ea typeface="Georgia" pitchFamily="34" charset="-122"/>
                <a:cs typeface="Georgia" pitchFamily="34" charset="-120"/>
              </a:rPr>
              <a:t>Develop an interactive dashboard that enables efficient exploration of patient data and disease patterns.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9235440" y="-1097280"/>
            <a:ext cx="4206240" cy="420624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METHODOLOGY</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600200"/>
            <a:ext cx="5669280" cy="4389120"/>
          </a:xfrm>
          <a:prstGeom prst="rect">
            <a:avLst/>
          </a:prstGeom>
          <a:noFill/>
          <a:ln/>
        </p:spPr>
        <p:txBody>
          <a:bodyPr wrap="square" rtlCol="0" anchor="ctr"/>
          <a:lstStyle/>
          <a:p>
            <a:pPr marL="342900" indent="-342900">
              <a:spcAft>
                <a:spcPts val="1000"/>
              </a:spcAft>
              <a:buSzPct val="100000"/>
              <a:buFont typeface="+mj-lt"/>
              <a:buAutoNum type="arabicPeriod" startAt="1"/>
            </a:pPr>
            <a:r>
              <a:rPr lang="en-US" sz="1450" i="1" dirty="0">
                <a:solidFill>
                  <a:srgbClr val="16324F"/>
                </a:solidFill>
                <a:latin typeface="Georgia" pitchFamily="34" charset="0"/>
                <a:ea typeface="Georgia" pitchFamily="34" charset="-122"/>
                <a:cs typeface="Georgia" pitchFamily="34" charset="-120"/>
              </a:rPr>
              <a:t>Collect the Autoimmune Disorder Dataset.</a:t>
            </a:r>
            <a:endParaRPr lang="en-US" sz="1450" dirty="0"/>
          </a:p>
          <a:p>
            <a:pPr marL="342900" indent="-342900">
              <a:spcAft>
                <a:spcPts val="1000"/>
              </a:spcAft>
              <a:buSzPct val="100000"/>
              <a:buFont typeface="+mj-lt"/>
              <a:buAutoNum type="arabicPeriod" startAt="1"/>
            </a:pPr>
            <a:r>
              <a:rPr lang="en-US" sz="1450" i="1" dirty="0">
                <a:solidFill>
                  <a:srgbClr val="16324F"/>
                </a:solidFill>
                <a:latin typeface="Georgia" pitchFamily="34" charset="0"/>
                <a:ea typeface="Georgia" pitchFamily="34" charset="-122"/>
                <a:cs typeface="Georgia" pitchFamily="34" charset="-120"/>
              </a:rPr>
              <a:t>Perform data preprocessing.</a:t>
            </a:r>
            <a:endParaRPr lang="en-US" sz="1450" dirty="0"/>
          </a:p>
          <a:p>
            <a:pPr marL="342900" indent="-342900">
              <a:spcAft>
                <a:spcPts val="1000"/>
              </a:spcAft>
              <a:buSzPct val="100000"/>
              <a:buFont typeface="+mj-lt"/>
              <a:buAutoNum type="arabicPeriod" startAt="1"/>
            </a:pPr>
            <a:r>
              <a:rPr lang="en-US" sz="1450" i="1" dirty="0">
                <a:solidFill>
                  <a:srgbClr val="16324F"/>
                </a:solidFill>
                <a:latin typeface="Georgia" pitchFamily="34" charset="0"/>
                <a:ea typeface="Georgia" pitchFamily="34" charset="-122"/>
                <a:cs typeface="Georgia" pitchFamily="34" charset="-120"/>
              </a:rPr>
              <a:t>Conduct Exploratory Data Analysis (EDA).</a:t>
            </a:r>
            <a:endParaRPr lang="en-US" sz="1450" dirty="0"/>
          </a:p>
          <a:p>
            <a:pPr marL="342900" indent="-342900">
              <a:spcAft>
                <a:spcPts val="1000"/>
              </a:spcAft>
              <a:buSzPct val="100000"/>
              <a:buFont typeface="+mj-lt"/>
              <a:buAutoNum type="arabicPeriod" startAt="1"/>
            </a:pPr>
            <a:r>
              <a:rPr lang="en-US" sz="1450" i="1" dirty="0">
                <a:solidFill>
                  <a:srgbClr val="16324F"/>
                </a:solidFill>
                <a:latin typeface="Georgia" pitchFamily="34" charset="0"/>
                <a:ea typeface="Georgia" pitchFamily="34" charset="-122"/>
                <a:cs typeface="Georgia" pitchFamily="34" charset="-120"/>
              </a:rPr>
              <a:t>Create visualizations using Python and Power BI.</a:t>
            </a:r>
            <a:endParaRPr lang="en-US" sz="1450" dirty="0"/>
          </a:p>
          <a:p>
            <a:pPr marL="342900" indent="-342900">
              <a:spcAft>
                <a:spcPts val="1000"/>
              </a:spcAft>
              <a:buSzPct val="100000"/>
              <a:buFont typeface="+mj-lt"/>
              <a:buAutoNum type="arabicPeriod" startAt="1"/>
            </a:pPr>
            <a:r>
              <a:rPr lang="en-US" sz="1450" i="1" dirty="0">
                <a:solidFill>
                  <a:srgbClr val="16324F"/>
                </a:solidFill>
                <a:latin typeface="Georgia" pitchFamily="34" charset="0"/>
                <a:ea typeface="Georgia" pitchFamily="34" charset="-122"/>
                <a:cs typeface="Georgia" pitchFamily="34" charset="-120"/>
              </a:rPr>
              <a:t>Analyze disease trends, biomarkers, and patient demographics.</a:t>
            </a:r>
            <a:endParaRPr lang="en-US" sz="1450" dirty="0"/>
          </a:p>
          <a:p>
            <a:pPr marL="342900" indent="-342900">
              <a:spcAft>
                <a:spcPts val="1000"/>
              </a:spcAft>
              <a:buSzPct val="100000"/>
              <a:buFont typeface="+mj-lt"/>
              <a:buAutoNum type="arabicPeriod" startAt="1"/>
            </a:pPr>
            <a:r>
              <a:rPr lang="en-US" sz="1450" i="1" dirty="0">
                <a:solidFill>
                  <a:srgbClr val="16324F"/>
                </a:solidFill>
                <a:latin typeface="Georgia" pitchFamily="34" charset="0"/>
                <a:ea typeface="Georgia" pitchFamily="34" charset="-122"/>
                <a:cs typeface="Georgia" pitchFamily="34" charset="-120"/>
              </a:rPr>
              <a:t>Generate conclusions from the insights obtained.</a:t>
            </a:r>
            <a:endParaRPr lang="en-US" sz="1450" dirty="0"/>
          </a:p>
        </p:txBody>
      </p:sp>
      <p:sp>
        <p:nvSpPr>
          <p:cNvPr id="6" name="Text 3"/>
          <p:cNvSpPr/>
          <p:nvPr/>
        </p:nvSpPr>
        <p:spPr>
          <a:xfrm>
            <a:off x="6583680" y="169164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Data Collection</a:t>
            </a:r>
            <a:endParaRPr lang="en-US" sz="1300" dirty="0"/>
          </a:p>
        </p:txBody>
      </p:sp>
      <p:sp>
        <p:nvSpPr>
          <p:cNvPr id="7" name="Text 4"/>
          <p:cNvSpPr/>
          <p:nvPr/>
        </p:nvSpPr>
        <p:spPr>
          <a:xfrm>
            <a:off x="6583680" y="2075688"/>
            <a:ext cx="3931920" cy="256032"/>
          </a:xfrm>
          <a:prstGeom prst="rect">
            <a:avLst/>
          </a:prstGeom>
          <a:noFill/>
          <a:ln/>
        </p:spPr>
        <p:txBody>
          <a:bodyPr wrap="square" rtlCol="0" anchor="ctr"/>
          <a:lstStyle/>
          <a:p>
            <a:pPr algn="ctr" indent="0" marL="0">
              <a:buNone/>
            </a:pPr>
            <a:r>
              <a:rPr lang="en-US" sz="1400" dirty="0">
                <a:solidFill>
                  <a:srgbClr val="1B3A5C"/>
                </a:solidFill>
                <a:latin typeface="Georgia" pitchFamily="34" charset="0"/>
                <a:ea typeface="Georgia" pitchFamily="34" charset="-122"/>
                <a:cs typeface="Georgia" pitchFamily="34" charset="-120"/>
              </a:rPr>
              <a:t>↓</a:t>
            </a:r>
            <a:endParaRPr lang="en-US" sz="1400" dirty="0"/>
          </a:p>
        </p:txBody>
      </p:sp>
      <p:sp>
        <p:nvSpPr>
          <p:cNvPr id="8" name="Text 5"/>
          <p:cNvSpPr/>
          <p:nvPr/>
        </p:nvSpPr>
        <p:spPr>
          <a:xfrm>
            <a:off x="6583680" y="233172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Data Preprocessing</a:t>
            </a:r>
            <a:endParaRPr lang="en-US" sz="1300" dirty="0"/>
          </a:p>
        </p:txBody>
      </p:sp>
      <p:sp>
        <p:nvSpPr>
          <p:cNvPr id="9" name="Text 6"/>
          <p:cNvSpPr/>
          <p:nvPr/>
        </p:nvSpPr>
        <p:spPr>
          <a:xfrm>
            <a:off x="6583680" y="2715768"/>
            <a:ext cx="3931920" cy="256032"/>
          </a:xfrm>
          <a:prstGeom prst="rect">
            <a:avLst/>
          </a:prstGeom>
          <a:noFill/>
          <a:ln/>
        </p:spPr>
        <p:txBody>
          <a:bodyPr wrap="square" rtlCol="0" anchor="ctr"/>
          <a:lstStyle/>
          <a:p>
            <a:pPr algn="ctr" indent="0" marL="0">
              <a:buNone/>
            </a:pPr>
            <a:r>
              <a:rPr lang="en-US" sz="1400" dirty="0">
                <a:solidFill>
                  <a:srgbClr val="1B3A5C"/>
                </a:solidFill>
                <a:latin typeface="Georgia" pitchFamily="34" charset="0"/>
                <a:ea typeface="Georgia" pitchFamily="34" charset="-122"/>
                <a:cs typeface="Georgia" pitchFamily="34" charset="-120"/>
              </a:rPr>
              <a:t>↓</a:t>
            </a:r>
            <a:endParaRPr lang="en-US" sz="1400" dirty="0"/>
          </a:p>
        </p:txBody>
      </p:sp>
      <p:sp>
        <p:nvSpPr>
          <p:cNvPr id="10" name="Text 7"/>
          <p:cNvSpPr/>
          <p:nvPr/>
        </p:nvSpPr>
        <p:spPr>
          <a:xfrm>
            <a:off x="6583680" y="297180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Exploratory Data Analysis</a:t>
            </a:r>
            <a:endParaRPr lang="en-US" sz="1300" dirty="0"/>
          </a:p>
        </p:txBody>
      </p:sp>
      <p:sp>
        <p:nvSpPr>
          <p:cNvPr id="11" name="Text 8"/>
          <p:cNvSpPr/>
          <p:nvPr/>
        </p:nvSpPr>
        <p:spPr>
          <a:xfrm>
            <a:off x="6583680" y="3355848"/>
            <a:ext cx="3931920" cy="256032"/>
          </a:xfrm>
          <a:prstGeom prst="rect">
            <a:avLst/>
          </a:prstGeom>
          <a:noFill/>
          <a:ln/>
        </p:spPr>
        <p:txBody>
          <a:bodyPr wrap="square" rtlCol="0" anchor="ctr"/>
          <a:lstStyle/>
          <a:p>
            <a:pPr algn="ctr" indent="0" marL="0">
              <a:buNone/>
            </a:pPr>
            <a:r>
              <a:rPr lang="en-US" sz="1400" dirty="0">
                <a:solidFill>
                  <a:srgbClr val="1B3A5C"/>
                </a:solidFill>
                <a:latin typeface="Georgia" pitchFamily="34" charset="0"/>
                <a:ea typeface="Georgia" pitchFamily="34" charset="-122"/>
                <a:cs typeface="Georgia" pitchFamily="34" charset="-120"/>
              </a:rPr>
              <a:t>↓</a:t>
            </a:r>
            <a:endParaRPr lang="en-US" sz="1400" dirty="0"/>
          </a:p>
        </p:txBody>
      </p:sp>
      <p:sp>
        <p:nvSpPr>
          <p:cNvPr id="12" name="Text 9"/>
          <p:cNvSpPr/>
          <p:nvPr/>
        </p:nvSpPr>
        <p:spPr>
          <a:xfrm>
            <a:off x="6583680" y="361188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Data Visualization</a:t>
            </a:r>
            <a:endParaRPr lang="en-US" sz="1300" dirty="0"/>
          </a:p>
        </p:txBody>
      </p:sp>
      <p:sp>
        <p:nvSpPr>
          <p:cNvPr id="13" name="Text 10"/>
          <p:cNvSpPr/>
          <p:nvPr/>
        </p:nvSpPr>
        <p:spPr>
          <a:xfrm>
            <a:off x="6583680" y="3995928"/>
            <a:ext cx="3931920" cy="256032"/>
          </a:xfrm>
          <a:prstGeom prst="rect">
            <a:avLst/>
          </a:prstGeom>
          <a:noFill/>
          <a:ln/>
        </p:spPr>
        <p:txBody>
          <a:bodyPr wrap="square" rtlCol="0" anchor="ctr"/>
          <a:lstStyle/>
          <a:p>
            <a:pPr algn="ctr" indent="0" marL="0">
              <a:buNone/>
            </a:pPr>
            <a:r>
              <a:rPr lang="en-US" sz="1400" dirty="0">
                <a:solidFill>
                  <a:srgbClr val="1B3A5C"/>
                </a:solidFill>
                <a:latin typeface="Georgia" pitchFamily="34" charset="0"/>
                <a:ea typeface="Georgia" pitchFamily="34" charset="-122"/>
                <a:cs typeface="Georgia" pitchFamily="34" charset="-120"/>
              </a:rPr>
              <a:t>↓</a:t>
            </a:r>
            <a:endParaRPr lang="en-US" sz="1400" dirty="0"/>
          </a:p>
        </p:txBody>
      </p:sp>
      <p:sp>
        <p:nvSpPr>
          <p:cNvPr id="14" name="Text 11"/>
          <p:cNvSpPr/>
          <p:nvPr/>
        </p:nvSpPr>
        <p:spPr>
          <a:xfrm>
            <a:off x="6583680" y="425196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Pattern Identification</a:t>
            </a:r>
            <a:endParaRPr lang="en-US" sz="1300" dirty="0"/>
          </a:p>
        </p:txBody>
      </p:sp>
      <p:sp>
        <p:nvSpPr>
          <p:cNvPr id="15" name="Text 12"/>
          <p:cNvSpPr/>
          <p:nvPr/>
        </p:nvSpPr>
        <p:spPr>
          <a:xfrm>
            <a:off x="6583680" y="4636008"/>
            <a:ext cx="3931920" cy="256032"/>
          </a:xfrm>
          <a:prstGeom prst="rect">
            <a:avLst/>
          </a:prstGeom>
          <a:noFill/>
          <a:ln/>
        </p:spPr>
        <p:txBody>
          <a:bodyPr wrap="square" rtlCol="0" anchor="ctr"/>
          <a:lstStyle/>
          <a:p>
            <a:pPr algn="ctr" indent="0" marL="0">
              <a:buNone/>
            </a:pPr>
            <a:r>
              <a:rPr lang="en-US" sz="1400" dirty="0">
                <a:solidFill>
                  <a:srgbClr val="1B3A5C"/>
                </a:solidFill>
                <a:latin typeface="Georgia" pitchFamily="34" charset="0"/>
                <a:ea typeface="Georgia" pitchFamily="34" charset="-122"/>
                <a:cs typeface="Georgia" pitchFamily="34" charset="-120"/>
              </a:rPr>
              <a:t>↓</a:t>
            </a:r>
            <a:endParaRPr lang="en-US" sz="1400" dirty="0"/>
          </a:p>
        </p:txBody>
      </p:sp>
      <p:sp>
        <p:nvSpPr>
          <p:cNvPr id="16" name="Text 13"/>
          <p:cNvSpPr/>
          <p:nvPr/>
        </p:nvSpPr>
        <p:spPr>
          <a:xfrm>
            <a:off x="6583680" y="489204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Dashboard Development</a:t>
            </a:r>
            <a:endParaRPr lang="en-US" sz="1300" dirty="0"/>
          </a:p>
        </p:txBody>
      </p:sp>
      <p:sp>
        <p:nvSpPr>
          <p:cNvPr id="17" name="Text 14"/>
          <p:cNvSpPr/>
          <p:nvPr/>
        </p:nvSpPr>
        <p:spPr>
          <a:xfrm>
            <a:off x="6583680" y="5276088"/>
            <a:ext cx="3931920" cy="256032"/>
          </a:xfrm>
          <a:prstGeom prst="rect">
            <a:avLst/>
          </a:prstGeom>
          <a:noFill/>
          <a:ln/>
        </p:spPr>
        <p:txBody>
          <a:bodyPr wrap="square" rtlCol="0" anchor="ctr"/>
          <a:lstStyle/>
          <a:p>
            <a:pPr algn="ctr" indent="0" marL="0">
              <a:buNone/>
            </a:pPr>
            <a:r>
              <a:rPr lang="en-US" sz="1400" dirty="0">
                <a:solidFill>
                  <a:srgbClr val="1B3A5C"/>
                </a:solidFill>
                <a:latin typeface="Georgia" pitchFamily="34" charset="0"/>
                <a:ea typeface="Georgia" pitchFamily="34" charset="-122"/>
                <a:cs typeface="Georgia" pitchFamily="34" charset="-120"/>
              </a:rPr>
              <a:t>↓</a:t>
            </a:r>
            <a:endParaRPr lang="en-US" sz="1400" dirty="0"/>
          </a:p>
        </p:txBody>
      </p:sp>
      <p:sp>
        <p:nvSpPr>
          <p:cNvPr id="18" name="Text 15"/>
          <p:cNvSpPr/>
          <p:nvPr/>
        </p:nvSpPr>
        <p:spPr>
          <a:xfrm>
            <a:off x="6583680" y="5532120"/>
            <a:ext cx="3931920" cy="384048"/>
          </a:xfrm>
          <a:prstGeom prst="rect">
            <a:avLst/>
          </a:prstGeom>
          <a:solidFill>
            <a:srgbClr val="1B3A5C"/>
          </a:solidFill>
          <a:ln/>
        </p:spPr>
        <p:txBody>
          <a:bodyPr wrap="square" rtlCol="0" anchor="ctr"/>
          <a:lstStyle/>
          <a:p>
            <a:pPr algn="ctr" indent="0" marL="0">
              <a:buNone/>
            </a:pPr>
            <a:r>
              <a:rPr lang="en-US" sz="1300" b="1" i="1" dirty="0">
                <a:solidFill>
                  <a:srgbClr val="FFFFFF"/>
                </a:solidFill>
                <a:latin typeface="Georgia" pitchFamily="34" charset="0"/>
                <a:ea typeface="Georgia" pitchFamily="34" charset="-122"/>
                <a:cs typeface="Georgia" pitchFamily="34" charset="-120"/>
              </a:rPr>
              <a:t>Conclusion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9235440" y="4480560"/>
            <a:ext cx="3474720" cy="34747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DATA PREPROCESSING &amp; EDA</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554480"/>
            <a:ext cx="5120640" cy="320040"/>
          </a:xfrm>
          <a:prstGeom prst="rect">
            <a:avLst/>
          </a:prstGeom>
          <a:noFill/>
          <a:ln/>
        </p:spPr>
        <p:txBody>
          <a:bodyPr wrap="square" rtlCol="0" anchor="ctr"/>
          <a:lstStyle/>
          <a:p>
            <a:pPr indent="0" marL="0">
              <a:buNone/>
            </a:pPr>
            <a:r>
              <a:rPr lang="en-US" sz="1600" b="1" i="1" dirty="0">
                <a:solidFill>
                  <a:srgbClr val="16324F"/>
                </a:solidFill>
                <a:latin typeface="Georgia" pitchFamily="34" charset="0"/>
                <a:ea typeface="Georgia" pitchFamily="34" charset="-122"/>
                <a:cs typeface="Georgia" pitchFamily="34" charset="-120"/>
              </a:rPr>
              <a:t>Data Preprocessing</a:t>
            </a:r>
            <a:endParaRPr lang="en-US" sz="1600" dirty="0"/>
          </a:p>
        </p:txBody>
      </p:sp>
      <p:sp>
        <p:nvSpPr>
          <p:cNvPr id="6" name="Text 3"/>
          <p:cNvSpPr/>
          <p:nvPr/>
        </p:nvSpPr>
        <p:spPr>
          <a:xfrm>
            <a:off x="594360" y="1920240"/>
            <a:ext cx="5212080" cy="2377440"/>
          </a:xfrm>
          <a:prstGeom prst="rect">
            <a:avLst/>
          </a:prstGeom>
          <a:noFill/>
          <a:ln/>
        </p:spPr>
        <p:txBody>
          <a:bodyPr wrap="square" rtlCol="0" anchor="ctr"/>
          <a:lstStyle/>
          <a:p>
            <a:pPr marL="342900" indent="-342900">
              <a:spcAft>
                <a:spcPts val="600"/>
              </a:spcAft>
              <a:buSzPct val="100000"/>
              <a:buChar char="•"/>
            </a:pPr>
            <a:r>
              <a:rPr lang="en-US" sz="1300" i="1" dirty="0">
                <a:solidFill>
                  <a:srgbClr val="16324F"/>
                </a:solidFill>
                <a:latin typeface="Georgia" pitchFamily="34" charset="0"/>
                <a:ea typeface="Georgia" pitchFamily="34" charset="-122"/>
                <a:cs typeface="Georgia" pitchFamily="34" charset="-120"/>
              </a:rPr>
              <a:t>Loaded the dataset.</a:t>
            </a:r>
            <a:endParaRPr lang="en-US" sz="1300" dirty="0"/>
          </a:p>
          <a:p>
            <a:pPr marL="342900" indent="-342900">
              <a:spcAft>
                <a:spcPts val="600"/>
              </a:spcAft>
              <a:buSzPct val="100000"/>
              <a:buChar char="•"/>
            </a:pPr>
            <a:r>
              <a:rPr lang="en-US" sz="1300" i="1" dirty="0">
                <a:solidFill>
                  <a:srgbClr val="16324F"/>
                </a:solidFill>
                <a:latin typeface="Georgia" pitchFamily="34" charset="0"/>
                <a:ea typeface="Georgia" pitchFamily="34" charset="-122"/>
                <a:cs typeface="Georgia" pitchFamily="34" charset="-120"/>
              </a:rPr>
              <a:t>Checked dataset dimensions and data types.</a:t>
            </a:r>
            <a:endParaRPr lang="en-US" sz="1300" dirty="0"/>
          </a:p>
          <a:p>
            <a:pPr marL="342900" indent="-342900">
              <a:spcAft>
                <a:spcPts val="600"/>
              </a:spcAft>
              <a:buSzPct val="100000"/>
              <a:buChar char="•"/>
            </a:pPr>
            <a:r>
              <a:rPr lang="en-US" sz="1300" i="1" dirty="0">
                <a:solidFill>
                  <a:srgbClr val="16324F"/>
                </a:solidFill>
                <a:latin typeface="Georgia" pitchFamily="34" charset="0"/>
                <a:ea typeface="Georgia" pitchFamily="34" charset="-122"/>
                <a:cs typeface="Georgia" pitchFamily="34" charset="-120"/>
              </a:rPr>
              <a:t>Identified missing values.</a:t>
            </a:r>
            <a:endParaRPr lang="en-US" sz="1300" dirty="0"/>
          </a:p>
          <a:p>
            <a:pPr marL="342900" indent="-342900">
              <a:spcAft>
                <a:spcPts val="600"/>
              </a:spcAft>
              <a:buSzPct val="100000"/>
              <a:buChar char="•"/>
            </a:pPr>
            <a:r>
              <a:rPr lang="en-US" sz="1300" i="1" dirty="0">
                <a:solidFill>
                  <a:srgbClr val="16324F"/>
                </a:solidFill>
                <a:latin typeface="Georgia" pitchFamily="34" charset="0"/>
                <a:ea typeface="Georgia" pitchFamily="34" charset="-122"/>
                <a:cs typeface="Georgia" pitchFamily="34" charset="-120"/>
              </a:rPr>
              <a:t>Verified duplicate records.</a:t>
            </a:r>
            <a:endParaRPr lang="en-US" sz="1300" dirty="0"/>
          </a:p>
          <a:p>
            <a:pPr marL="342900" indent="-342900">
              <a:spcAft>
                <a:spcPts val="600"/>
              </a:spcAft>
              <a:buSzPct val="100000"/>
              <a:buChar char="•"/>
            </a:pPr>
            <a:r>
              <a:rPr lang="en-US" sz="1300" i="1" dirty="0">
                <a:solidFill>
                  <a:srgbClr val="16324F"/>
                </a:solidFill>
                <a:latin typeface="Georgia" pitchFamily="34" charset="0"/>
                <a:ea typeface="Georgia" pitchFamily="34" charset="-122"/>
                <a:cs typeface="Georgia" pitchFamily="34" charset="-120"/>
              </a:rPr>
              <a:t>Standardized column names.</a:t>
            </a:r>
            <a:endParaRPr lang="en-US" sz="1300" dirty="0"/>
          </a:p>
          <a:p>
            <a:pPr marL="342900" indent="-342900">
              <a:spcAft>
                <a:spcPts val="600"/>
              </a:spcAft>
              <a:buSzPct val="100000"/>
              <a:buChar char="•"/>
            </a:pPr>
            <a:r>
              <a:rPr lang="en-US" sz="1300" i="1" dirty="0">
                <a:solidFill>
                  <a:srgbClr val="16324F"/>
                </a:solidFill>
                <a:latin typeface="Georgia" pitchFamily="34" charset="0"/>
                <a:ea typeface="Georgia" pitchFamily="34" charset="-122"/>
                <a:cs typeface="Georgia" pitchFamily="34" charset="-120"/>
              </a:rPr>
              <a:t>Prepared the dataset for visualization.</a:t>
            </a:r>
            <a:endParaRPr lang="en-US" sz="1300" dirty="0"/>
          </a:p>
        </p:txBody>
      </p:sp>
      <p:sp>
        <p:nvSpPr>
          <p:cNvPr id="7" name="Text 4"/>
          <p:cNvSpPr/>
          <p:nvPr/>
        </p:nvSpPr>
        <p:spPr>
          <a:xfrm>
            <a:off x="6035040" y="1554480"/>
            <a:ext cx="5486400" cy="320040"/>
          </a:xfrm>
          <a:prstGeom prst="rect">
            <a:avLst/>
          </a:prstGeom>
          <a:noFill/>
          <a:ln/>
        </p:spPr>
        <p:txBody>
          <a:bodyPr wrap="square" rtlCol="0" anchor="ctr"/>
          <a:lstStyle/>
          <a:p>
            <a:pPr indent="0" marL="0">
              <a:buNone/>
            </a:pPr>
            <a:r>
              <a:rPr lang="en-US" sz="1600" b="1" i="1" dirty="0">
                <a:solidFill>
                  <a:srgbClr val="16324F"/>
                </a:solidFill>
                <a:latin typeface="Georgia" pitchFamily="34" charset="0"/>
                <a:ea typeface="Georgia" pitchFamily="34" charset="-122"/>
                <a:cs typeface="Georgia" pitchFamily="34" charset="-120"/>
              </a:rPr>
              <a:t>Exploratory Data Analysis (EDA)</a:t>
            </a:r>
            <a:endParaRPr lang="en-US" sz="1600" dirty="0"/>
          </a:p>
        </p:txBody>
      </p:sp>
      <p:sp>
        <p:nvSpPr>
          <p:cNvPr id="8" name="Text 5"/>
          <p:cNvSpPr/>
          <p:nvPr/>
        </p:nvSpPr>
        <p:spPr>
          <a:xfrm>
            <a:off x="6035040" y="1920240"/>
            <a:ext cx="5486400" cy="274320"/>
          </a:xfrm>
          <a:prstGeom prst="rect">
            <a:avLst/>
          </a:prstGeom>
          <a:noFill/>
          <a:ln/>
        </p:spPr>
        <p:txBody>
          <a:bodyPr wrap="square" rtlCol="0" anchor="ctr"/>
          <a:lstStyle/>
          <a:p>
            <a:pPr indent="0" marL="0">
              <a:buNone/>
            </a:pPr>
            <a:r>
              <a:rPr lang="en-US" sz="1300" b="1" i="1" dirty="0">
                <a:solidFill>
                  <a:srgbClr val="16324F"/>
                </a:solidFill>
                <a:latin typeface="Georgia" pitchFamily="34" charset="0"/>
                <a:ea typeface="Georgia" pitchFamily="34" charset="-122"/>
                <a:cs typeface="Georgia" pitchFamily="34" charset="-120"/>
              </a:rPr>
              <a:t>1. Univariate Analysis</a:t>
            </a:r>
            <a:endParaRPr lang="en-US" sz="1300" dirty="0"/>
          </a:p>
        </p:txBody>
      </p:sp>
      <p:sp>
        <p:nvSpPr>
          <p:cNvPr id="9" name="Text 6"/>
          <p:cNvSpPr/>
          <p:nvPr/>
        </p:nvSpPr>
        <p:spPr>
          <a:xfrm>
            <a:off x="6035040" y="2212848"/>
            <a:ext cx="5486400" cy="822960"/>
          </a:xfrm>
          <a:prstGeom prst="rect">
            <a:avLst/>
          </a:prstGeom>
          <a:noFill/>
          <a:ln/>
        </p:spPr>
        <p:txBody>
          <a:bodyPr wrap="square" rtlCol="0" anchor="ctr"/>
          <a:lstStyle/>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Disease distribution</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Age distribution</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Gender distribution</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Laboratory parameter distributions</a:t>
            </a:r>
            <a:endParaRPr lang="en-US" sz="1200" dirty="0"/>
          </a:p>
        </p:txBody>
      </p:sp>
      <p:sp>
        <p:nvSpPr>
          <p:cNvPr id="10" name="Text 7"/>
          <p:cNvSpPr/>
          <p:nvPr/>
        </p:nvSpPr>
        <p:spPr>
          <a:xfrm>
            <a:off x="6035040" y="3081528"/>
            <a:ext cx="5486400" cy="274320"/>
          </a:xfrm>
          <a:prstGeom prst="rect">
            <a:avLst/>
          </a:prstGeom>
          <a:noFill/>
          <a:ln/>
        </p:spPr>
        <p:txBody>
          <a:bodyPr wrap="square" rtlCol="0" anchor="ctr"/>
          <a:lstStyle/>
          <a:p>
            <a:pPr indent="0" marL="0">
              <a:buNone/>
            </a:pPr>
            <a:r>
              <a:rPr lang="en-US" sz="1300" b="1" i="1" dirty="0">
                <a:solidFill>
                  <a:srgbClr val="16324F"/>
                </a:solidFill>
                <a:latin typeface="Georgia" pitchFamily="34" charset="0"/>
                <a:ea typeface="Georgia" pitchFamily="34" charset="-122"/>
                <a:cs typeface="Georgia" pitchFamily="34" charset="-120"/>
              </a:rPr>
              <a:t>2. Bivariate Analysis</a:t>
            </a:r>
            <a:endParaRPr lang="en-US" sz="1300" dirty="0"/>
          </a:p>
        </p:txBody>
      </p:sp>
      <p:sp>
        <p:nvSpPr>
          <p:cNvPr id="11" name="Text 8"/>
          <p:cNvSpPr/>
          <p:nvPr/>
        </p:nvSpPr>
        <p:spPr>
          <a:xfrm>
            <a:off x="6035040" y="3374136"/>
            <a:ext cx="5486400" cy="822960"/>
          </a:xfrm>
          <a:prstGeom prst="rect">
            <a:avLst/>
          </a:prstGeom>
          <a:noFill/>
          <a:ln/>
        </p:spPr>
        <p:txBody>
          <a:bodyPr wrap="square" rtlCol="0" anchor="ctr"/>
          <a:lstStyle/>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Disease vs Gender</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Disease vs Age</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Disease vs Biomarkers</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Disease vs Symptoms</a:t>
            </a:r>
            <a:endParaRPr lang="en-US" sz="1200" dirty="0"/>
          </a:p>
        </p:txBody>
      </p:sp>
      <p:sp>
        <p:nvSpPr>
          <p:cNvPr id="12" name="Text 9"/>
          <p:cNvSpPr/>
          <p:nvPr/>
        </p:nvSpPr>
        <p:spPr>
          <a:xfrm>
            <a:off x="6035040" y="4242816"/>
            <a:ext cx="5486400" cy="274320"/>
          </a:xfrm>
          <a:prstGeom prst="rect">
            <a:avLst/>
          </a:prstGeom>
          <a:noFill/>
          <a:ln/>
        </p:spPr>
        <p:txBody>
          <a:bodyPr wrap="square" rtlCol="0" anchor="ctr"/>
          <a:lstStyle/>
          <a:p>
            <a:pPr indent="0" marL="0">
              <a:buNone/>
            </a:pPr>
            <a:r>
              <a:rPr lang="en-US" sz="1300" b="1" i="1" dirty="0">
                <a:solidFill>
                  <a:srgbClr val="16324F"/>
                </a:solidFill>
                <a:latin typeface="Georgia" pitchFamily="34" charset="0"/>
                <a:ea typeface="Georgia" pitchFamily="34" charset="-122"/>
                <a:cs typeface="Georgia" pitchFamily="34" charset="-120"/>
              </a:rPr>
              <a:t>3. Multivariate Analysis</a:t>
            </a:r>
            <a:endParaRPr lang="en-US" sz="1300" dirty="0"/>
          </a:p>
        </p:txBody>
      </p:sp>
      <p:sp>
        <p:nvSpPr>
          <p:cNvPr id="13" name="Text 10"/>
          <p:cNvSpPr/>
          <p:nvPr/>
        </p:nvSpPr>
        <p:spPr>
          <a:xfrm>
            <a:off x="6035040" y="4535424"/>
            <a:ext cx="5486400" cy="822960"/>
          </a:xfrm>
          <a:prstGeom prst="rect">
            <a:avLst/>
          </a:prstGeom>
          <a:noFill/>
          <a:ln/>
        </p:spPr>
        <p:txBody>
          <a:bodyPr wrap="square" rtlCol="0" anchor="ctr"/>
          <a:lstStyle/>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Correlation heatmap</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Biomarker relationships</a:t>
            </a:r>
            <a:endParaRPr lang="en-US" sz="1200" dirty="0"/>
          </a:p>
          <a:p>
            <a:pPr marL="342900" indent="-342900">
              <a:spcAft>
                <a:spcPts val="300"/>
              </a:spcAft>
              <a:buSzPct val="100000"/>
              <a:buChar char="•"/>
            </a:pPr>
            <a:r>
              <a:rPr lang="en-US" sz="1200" i="1" dirty="0">
                <a:solidFill>
                  <a:srgbClr val="16324F"/>
                </a:solidFill>
                <a:latin typeface="Georgia" pitchFamily="34" charset="0"/>
                <a:ea typeface="Georgia" pitchFamily="34" charset="-122"/>
                <a:cs typeface="Georgia" pitchFamily="34" charset="-120"/>
              </a:rPr>
              <a:t>Lab parameter comparisons across diseases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EXPECTED OUTCOMES</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554480"/>
            <a:ext cx="9784080" cy="4754880"/>
          </a:xfrm>
          <a:prstGeom prst="rect">
            <a:avLst/>
          </a:prstGeom>
          <a:noFill/>
          <a:ln/>
        </p:spPr>
        <p:txBody>
          <a:bodyPr wrap="square" rtlCol="0" anchor="ctr"/>
          <a:lstStyle/>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Understand the prevalence of different autoimmune disorders.</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Identify the most common symptoms associated with each disease.</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Analyze demographic trends such as age and gender distribution.</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Compare laboratory findings across autoimmune disorders.</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Study biomarker positivity among different diseases.</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Develop an interactive dashboard for healthcare analysis and decision support.</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1EF"/>
        </a:solidFill>
      </p:bgPr>
    </p:bg>
    <p:spTree>
      <p:nvGrpSpPr>
        <p:cNvPr id="1" name=""/>
        <p:cNvGrpSpPr/>
        <p:nvPr/>
      </p:nvGrpSpPr>
      <p:grpSpPr>
        <a:xfrm>
          <a:off x="0" y="0"/>
          <a:ext cx="0" cy="0"/>
          <a:chOff x="0" y="0"/>
          <a:chExt cx="0" cy="0"/>
        </a:xfrm>
      </p:grpSpPr>
      <p:pic>
        <p:nvPicPr>
          <p:cNvPr id="2" name="Image 0" descr="wave_br.png">    </p:cNvPr>
          <p:cNvPicPr>
            <a:picLocks noChangeAspect="1"/>
          </p:cNvPicPr>
          <p:nvPr/>
        </p:nvPicPr>
        <p:blipFill>
          <a:blip r:embed="rId1"/>
          <a:stretch>
            <a:fillRect/>
          </a:stretch>
        </p:blipFill>
        <p:spPr>
          <a:xfrm>
            <a:off x="8778240" y="4206240"/>
            <a:ext cx="3931920" cy="3931920"/>
          </a:xfrm>
          <a:prstGeom prst="rect">
            <a:avLst/>
          </a:prstGeom>
        </p:spPr>
      </p:pic>
      <p:sp>
        <p:nvSpPr>
          <p:cNvPr id="3" name="Text 0"/>
          <p:cNvSpPr/>
          <p:nvPr/>
        </p:nvSpPr>
        <p:spPr>
          <a:xfrm>
            <a:off x="548640" y="457200"/>
            <a:ext cx="8686800" cy="822960"/>
          </a:xfrm>
          <a:prstGeom prst="rect">
            <a:avLst/>
          </a:prstGeom>
          <a:noFill/>
          <a:ln/>
        </p:spPr>
        <p:txBody>
          <a:bodyPr wrap="square" rtlCol="0" anchor="ctr"/>
          <a:lstStyle/>
          <a:p>
            <a:pPr indent="0" marL="0">
              <a:buNone/>
            </a:pPr>
            <a:r>
              <a:rPr lang="en-US" sz="3000" b="1" dirty="0">
                <a:solidFill>
                  <a:srgbClr val="1B3A5C"/>
                </a:solidFill>
                <a:latin typeface="Georgia" pitchFamily="34" charset="0"/>
                <a:ea typeface="Georgia" pitchFamily="34" charset="-122"/>
                <a:cs typeface="Georgia" pitchFamily="34" charset="-120"/>
              </a:rPr>
              <a:t>FUTURE SCOPE</a:t>
            </a:r>
            <a:endParaRPr lang="en-US" sz="3000" dirty="0"/>
          </a:p>
        </p:txBody>
      </p:sp>
      <p:sp>
        <p:nvSpPr>
          <p:cNvPr id="4" name="Shape 1"/>
          <p:cNvSpPr/>
          <p:nvPr/>
        </p:nvSpPr>
        <p:spPr>
          <a:xfrm>
            <a:off x="566928" y="1234440"/>
            <a:ext cx="2377440" cy="0"/>
          </a:xfrm>
          <a:prstGeom prst="line">
            <a:avLst/>
          </a:prstGeom>
          <a:noFill/>
          <a:ln w="19050">
            <a:solidFill>
              <a:srgbClr val="1B3A5C"/>
            </a:solidFill>
            <a:prstDash val="solid"/>
          </a:ln>
        </p:spPr>
      </p:sp>
      <p:sp>
        <p:nvSpPr>
          <p:cNvPr id="5" name="Text 2"/>
          <p:cNvSpPr/>
          <p:nvPr/>
        </p:nvSpPr>
        <p:spPr>
          <a:xfrm>
            <a:off x="594360" y="1554480"/>
            <a:ext cx="9784080" cy="4754880"/>
          </a:xfrm>
          <a:prstGeom prst="rect">
            <a:avLst/>
          </a:prstGeom>
          <a:noFill/>
          <a:ln/>
        </p:spPr>
        <p:txBody>
          <a:bodyPr wrap="square" rtlCol="0" anchor="ctr"/>
          <a:lstStyle/>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Build machine learning models for autoimmune disease prediction.</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Integrate real-time Electronic Health Record (EHR) data.</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Develop clinical decision support systems.</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Apply deep learning techniques for disease classification.</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Create hospital dashboards for patient monitoring.</a:t>
            </a:r>
            <a:endParaRPr lang="en-US" sz="1650" dirty="0"/>
          </a:p>
          <a:p>
            <a:pPr marL="342900" indent="-342900">
              <a:spcAft>
                <a:spcPts val="1100"/>
              </a:spcAft>
              <a:buSzPct val="100000"/>
              <a:buChar char="•"/>
            </a:pPr>
            <a:r>
              <a:rPr lang="en-US" sz="1650" i="1" dirty="0">
                <a:solidFill>
                  <a:srgbClr val="16324F"/>
                </a:solidFill>
                <a:latin typeface="Georgia" pitchFamily="34" charset="0"/>
                <a:ea typeface="Georgia" pitchFamily="34" charset="-122"/>
                <a:cs typeface="Georgia" pitchFamily="34" charset="-120"/>
              </a:rPr>
              <a:t>Support medical researchers in identifying disease trends and biomarker associations.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2026-07-30T17:11:35Z</dcterms:created>
  <dcterms:modified xsi:type="dcterms:W3CDTF">2026-07-30T17:11:35Z</dcterms:modified>
</cp:coreProperties>
</file>